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Presentasi ini merangkum panduan penggunaan SIBERSIH PLBN Wini. Seluruh gambar diambil dari aplikasi yang berjalan, bukan mockup. Data pribadi pada tangkapan layar telah disamarkan.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SIBERSIH adalah aplikasi web internal PLBN Wini untuk barang kebersihan. Empat fungsi utama: pengajuan, persetujuan, distribusi dengan bukti, dan laporan.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Hanya ada dua peran yang benar-benar aktif: Admin dan Pengguna. Peran vendor ada di enum database tetapi tidak dapat login dan tidak punya antarmuka.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Lima tahap: pengajuan, pemeriksaan, distribusi, unggah bukti, verifikasi. Stok hanya berkurang pada persetujuan. Status akhir Selesai hanya tercapai setelah bukti diverifikasi.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pengajuan: Menunggu, Disetujui atau Ditolak, Didistribusi, lalu Selesai. Status bukti: belum ada, menunggu verifikasi, terverifikasi, atau perlu perbaikan. Pesan tidak mengubah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 memakai username dan password. Pemulihan akun memakai NIK. Jangan pernah membagikan password; Admin tidak memintanya.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Admin merangkum jumlah pengajuan per status dan menampilkan tabel pengajuan terbaru. Gunakan tombol Detail untuk memeriksa satu pengajuan.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Kelola Barang dipakai untuk merawat katalog dan stok. Penghapusan barang dengan riwayat akan ditolak aplikasi. Stok berkurang saat persetujuan pengajuan.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Halaman Kelola Pengajuan menampilkan seluruh pengajuan. Detail dipakai untuk memeriksa barang dan bukti. Tombol Setujui/Tolak hanya muncul untuk status Menunggu; tangkapan layar data uji tidak menampilkannya karena semua sudah diproses.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Halaman Distribusi punya tiga panel. Catat distribusi untuk pengajuan Disetujui, kirim pesan bila perlu, lalu verifikasi bukti yang diunggah Pengguna. Pesan tidak mengubah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Laporan memakai filter periode. Hanya pengajuan berstatus Selesai yang tercetak. Pratinjau memakai kop resmi; PDF dibuat melalui Save as PDF di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Akun hanya dibuat Admin melalui Kelola Anggota. Password minimal 8 karakter dan NIK 16 angka. Tidak ada registrasi mandiri.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Pengguna memiliki Dashboard, Buat Pengajuan, Daftar Barang, Riwayat Pengajuan, dan Pesan. Dashboard merangkum status; Daftar Barang adalah katalog dengan sisa stok.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Pengguna memilih barang, mengisi jumlah, menambah baris bila perlu, lalu mengajukan. Nama, divisi, dan status kepegawaian terisi otomatis dari akun dan masih dapat disesuaikan.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riwayat menampilkan linimasa Di ajukan, Diproses, Distribusi, Verifikasi bukti, Selesai. Bukti yang sudah diunggah dapat dilihat; status bukti menentukan penyelesaian. Bukti berupa JPG, PNG, atau WEBP maksimal 5 MB.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Pesan hanya dikirim Admin. Pengguna membaca pesan; membuka pesan menandainya sudah dibaca. Tidak ada balasan dan status pengajuan tidak berubah karena pesan.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kebiasaan aman: logout, periksa data, verifikasi stok, dan simpan arsip. Sebutkan fitur yang belum ada agar ekspektasi pengguna tepat: vendor, ekspor langsung, notifikasi, ubah password, riwayat mutasi, balasan pesan.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presentasi dengan mengingatkan tiga kunci: isi data dengan benar, periksa sebelum menekan tombol, dan pantau status. Arahkan peserta ke berkas PDF untuk panduan lengkap.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NTE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-1920240"/>
            <a:ext cx="5852160" cy="5852160"/>
          </a:xfrm>
          <a:prstGeom prst="ellipse">
            <a:avLst/>
          </a:prstGeom>
          <a:solidFill>
            <a:srgbClr val="123F74">
              <a:alpha val="45000"/>
            </a:srgbClr>
          </a:solidFill>
          <a:ln w="12700">
            <a:solidFill>
              <a:srgbClr val="123F7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4937760"/>
            <a:ext cx="2834640" cy="2834640"/>
          </a:xfrm>
          <a:prstGeom prst="ellipse">
            <a:avLst/>
          </a:prstGeom>
          <a:solidFill>
            <a:srgbClr val="1D6FE8">
              <a:alpha val="22000"/>
            </a:srgbClr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566928"/>
            <a:ext cx="786384" cy="7863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\xampp\htdocs\sistem_informasi_plbn_wini\dokumentasi\assets\logo-bn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621792"/>
            <a:ext cx="676656" cy="676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4208" y="60350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spc="7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BADAN NASIONAL PENGELOLA PERBATASAN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664208" y="850392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spc="120" kern="0" dirty="0">
                <a:solidFill>
                  <a:srgbClr val="7FB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 LINTAS BATAS NEGARA WINI</a:t>
            </a:r>
            <a:endParaRPr lang="en-US" sz="860" dirty="0"/>
          </a:p>
        </p:txBody>
      </p:sp>
      <p:sp>
        <p:nvSpPr>
          <p:cNvPr id="9" name="Text 6"/>
          <p:cNvSpPr/>
          <p:nvPr/>
        </p:nvSpPr>
        <p:spPr>
          <a:xfrm>
            <a:off x="73152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FB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PENGGUNAAN SISTEM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20574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731520" y="276148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7FB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PLBN Wini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749808" y="3456432"/>
            <a:ext cx="1234440" cy="50292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3639312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9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 Informasi Pengajuan dan Distribusi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9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Barang Kebersihan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31520" y="452628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9FB8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langkah demi langkah untuk Admin dan Pengguna, disusun dari aplikasi yang berjalan.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6670548" y="1735646"/>
            <a:ext cx="4992624" cy="3158109"/>
          </a:xfrm>
          <a:prstGeom prst="roundRect">
            <a:avLst>
              <a:gd name="adj" fmla="val 869"/>
            </a:avLst>
          </a:prstGeom>
          <a:solidFill>
            <a:srgbClr val="FFFFFF"/>
          </a:solidFill>
          <a:ln w="11430">
            <a:solidFill>
              <a:srgbClr val="D5DF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6000"/>
              </a:srgbClr>
            </a:outerShdw>
          </a:effectLst>
        </p:spPr>
      </p:sp>
      <p:pic>
        <p:nvPicPr>
          <p:cNvPr id="16" name="Image 1" descr="Tangkapan layar aplikasi: 05_admin_dashboar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785938"/>
            <a:ext cx="4892040" cy="305752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720840" y="495604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FC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Tampilan Dashboard Admin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731520" y="60533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FB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Edisi 2026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108960" y="605332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8FA9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Dokumen internal  •  PLBN Wini, Insana Utara, TTU, NTT</a:t>
            </a:r>
            <a:endParaRPr lang="en-US" sz="8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93192"/>
            <a:ext cx="68580" cy="182880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566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 PLBN WINI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5778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Satu alur untuk pengajuan, distribusi, dan bukti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 menggantikan pencatatan manual dengan riwayat yang tercatat dan stok yang terpantau.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4415" cy="12802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492240"/>
            <a:ext cx="11094415" cy="9144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3796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 PLBN Wini  |  Panduan Penggunaan Sistem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185855" y="6537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1700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007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24712" y="16733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Pengajuan terpusat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24712" y="1929384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Pengguna memilih barang dan jumlah, lalu mengirim satu pengajuan.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548640" y="276148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61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24712" y="273405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Persetujuan berbasis stok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24712" y="299008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memeriksa pengajuan. Stok berkurang saat pengajuan disetujui.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548640" y="382219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822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24712" y="37947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Distribusi dan bukti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24712" y="405079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Barang dicatat keluar, lalu Pengguna mengunggah bukti penerimaan.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548640" y="488289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8828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24712" y="485546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Laporan resmi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24712" y="5111496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Pengajuan yang selesai dapat dicetak dalam format laporan A4 berkop.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5939028" y="1964245"/>
            <a:ext cx="5724144" cy="3615309"/>
          </a:xfrm>
          <a:prstGeom prst="roundRect">
            <a:avLst>
              <a:gd name="adj" fmla="val 759"/>
            </a:avLst>
          </a:prstGeom>
          <a:solidFill>
            <a:srgbClr val="FFFFFF"/>
          </a:solidFill>
          <a:ln w="11430">
            <a:solidFill>
              <a:srgbClr val="D5DF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6000"/>
              </a:srgbClr>
            </a:outerShdw>
          </a:effectLst>
        </p:spPr>
      </p:sp>
      <p:pic>
        <p:nvPicPr>
          <p:cNvPr id="27" name="Image 0" descr="Tangkapan layar aplikasi: 01_land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014538"/>
            <a:ext cx="5623560" cy="3514725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10294772" y="2580323"/>
            <a:ext cx="274320" cy="274320"/>
          </a:xfrm>
          <a:prstGeom prst="ellipse">
            <a:avLst/>
          </a:prstGeom>
          <a:solidFill>
            <a:srgbClr val="1D6FE8"/>
          </a:solidFill>
          <a:ln w="1778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10294772" y="258032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989320" y="598932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Halaman utama: tombol Login (1) menuju halaman masuk dan pemulihan akun.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93192"/>
            <a:ext cx="68580" cy="182880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566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 PLBN WINI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5778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 peran aktif, tanggung jawab yang jelas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Hak akses ditentukan oleh jenis akun. Menu yang tampil menyesuaikan peran.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4415" cy="12802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492240"/>
            <a:ext cx="11094415" cy="9144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3796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 PLBN Wini  |  Panduan Penggunaan Sistem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185855" y="6537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1700784"/>
            <a:ext cx="539496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1901952"/>
            <a:ext cx="1188720" cy="292608"/>
          </a:xfrm>
          <a:prstGeom prst="roundRect">
            <a:avLst>
              <a:gd name="adj" fmla="val 15625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9019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04672" y="23042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Pengelola perlengkapan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04672" y="2743200"/>
            <a:ext cx="4882896" cy="10973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2958084"/>
            <a:ext cx="100584" cy="100584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288950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Mengelola data barang dan stok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822960" y="3442716"/>
            <a:ext cx="100584" cy="100584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" y="337413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Menyetujui atau menolak pengajuan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22960" y="3927348"/>
            <a:ext cx="100584" cy="100584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3272" y="385876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Mencatat distribusi dan mengirim pesan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822960" y="4411980"/>
            <a:ext cx="100584" cy="100584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" y="43434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Memverifikasi bukti penerimaan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822960" y="4896612"/>
            <a:ext cx="100584" cy="100584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3272" y="482803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Mencetak laporan dan mengelola anggota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6245352" y="1700784"/>
            <a:ext cx="539496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01384" y="1901952"/>
            <a:ext cx="1188720" cy="292608"/>
          </a:xfrm>
          <a:prstGeom prst="roundRect">
            <a:avLst>
              <a:gd name="adj" fmla="val 156250"/>
            </a:avLst>
          </a:prstGeom>
          <a:solidFill>
            <a:srgbClr val="E8F7EE"/>
          </a:solidFill>
          <a:ln w="12700">
            <a:solidFill>
              <a:srgbClr val="E8F7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01384" y="19019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PENGGUNA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501384" y="23042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Pegawai PLBN Wini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501384" y="2743200"/>
            <a:ext cx="4882896" cy="10973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19672" y="2958084"/>
            <a:ext cx="100584" cy="10058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9984" y="288950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Melihat katalog dan sisa stok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6519672" y="3442716"/>
            <a:ext cx="100584" cy="10058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9984" y="337413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Membuat serta mengirim pengajuan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6519672" y="3927348"/>
            <a:ext cx="100584" cy="10058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9984" y="385876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Memantau status di Riwayat Pengajuan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6519672" y="4411980"/>
            <a:ext cx="100584" cy="10058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9984" y="43434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Membaca pesan dari Admin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6519672" y="4896612"/>
            <a:ext cx="100584" cy="10058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9984" y="482803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Mengunggah bukti penerimaan barang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548640" y="5989320"/>
            <a:ext cx="11091672" cy="420624"/>
          </a:xfrm>
          <a:prstGeom prst="roundRect">
            <a:avLst>
              <a:gd name="adj" fmla="val 13043"/>
            </a:avLst>
          </a:prstGeom>
          <a:solidFill>
            <a:srgbClr val="FEF3C7"/>
          </a:solidFill>
          <a:ln w="8890">
            <a:solidFill>
              <a:srgbClr val="F2D2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59893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Catatan verifikasi: peran vendor dikenali struktur basis data, tetapi belum memiliki halaman/alur kerja dan login dengan peran ini ditolak.</a:t>
            </a:r>
            <a:endParaRPr lang="en-US" sz="8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93192"/>
            <a:ext cx="68580" cy="182880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566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 PLBN WINI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5778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Alur kerja utama dalam lima tahap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Setiap tindakan mengubah status. Stok berkurang pada tahap persetujuan, bukan saat distribusi.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4415" cy="12802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492240"/>
            <a:ext cx="11094415" cy="9144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3796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 PLBN Wini  |  Panduan Penggunaan Sistem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185855" y="6537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66928" y="2057400"/>
            <a:ext cx="201168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2194560"/>
            <a:ext cx="347472" cy="34747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194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19456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Ajukan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43000" y="241401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Pengguna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13232" y="2706624"/>
            <a:ext cx="1719072" cy="256032"/>
          </a:xfrm>
          <a:prstGeom prst="roundRect">
            <a:avLst>
              <a:gd name="adj" fmla="val 178571"/>
            </a:avLst>
          </a:prstGeom>
          <a:solidFill>
            <a:srgbClr val="FEF3C7"/>
          </a:solidFill>
          <a:ln w="7620">
            <a:solidFill>
              <a:srgbClr val="FEF3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70662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Menunggu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713232" y="3044952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Pilih barang,</a:t>
            </a:r>
            <a:endParaRPr lang="en-US" sz="8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isi jumlah,</a:t>
            </a:r>
            <a:endParaRPr lang="en-US" sz="8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kirim.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2624328" y="2798064"/>
            <a:ext cx="164592" cy="201168"/>
          </a:xfrm>
          <a:prstGeom prst="rightArrow">
            <a:avLst/>
          </a:prstGeom>
          <a:solidFill>
            <a:srgbClr val="B6C6DC"/>
          </a:solidFill>
          <a:ln w="12700">
            <a:solidFill>
              <a:srgbClr val="B6C6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4640" y="2057400"/>
            <a:ext cx="201168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980944" y="2194560"/>
            <a:ext cx="347472" cy="347472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80944" y="2194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10712" y="219456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Periksa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410712" y="241401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980944" y="2706624"/>
            <a:ext cx="1719072" cy="256032"/>
          </a:xfrm>
          <a:prstGeom prst="roundRect">
            <a:avLst>
              <a:gd name="adj" fmla="val 178571"/>
            </a:avLst>
          </a:prstGeom>
          <a:solidFill>
            <a:srgbClr val="E8F0FE"/>
          </a:solidFill>
          <a:ln w="7620">
            <a:solidFill>
              <a:srgbClr val="E8F0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80944" y="270662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Disetujui / Ditolak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2980944" y="3044952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Periksa stok,</a:t>
            </a:r>
            <a:endParaRPr lang="en-US" sz="8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setujui atau</a:t>
            </a:r>
            <a:endParaRPr lang="en-US" sz="8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tolak.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4892040" y="2798064"/>
            <a:ext cx="164592" cy="201168"/>
          </a:xfrm>
          <a:prstGeom prst="rightArrow">
            <a:avLst/>
          </a:prstGeom>
          <a:solidFill>
            <a:srgbClr val="B6C6DC"/>
          </a:solidFill>
          <a:ln w="12700">
            <a:solidFill>
              <a:srgbClr val="B6C6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02352" y="2057400"/>
            <a:ext cx="201168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248656" y="2194560"/>
            <a:ext cx="347472" cy="347472"/>
          </a:xfrm>
          <a:prstGeom prst="ellipse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48656" y="2194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78424" y="219456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Distribusi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678424" y="241401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D4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248656" y="2706624"/>
            <a:ext cx="1719072" cy="256032"/>
          </a:xfrm>
          <a:prstGeom prst="roundRect">
            <a:avLst>
              <a:gd name="adj" fmla="val 178571"/>
            </a:avLst>
          </a:prstGeom>
          <a:solidFill>
            <a:srgbClr val="EFEBFF"/>
          </a:solidFill>
          <a:ln w="7620">
            <a:solidFill>
              <a:srgbClr val="EFEB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48656" y="270662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D4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Didistribusi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5248656" y="3044952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Serahkan barang,</a:t>
            </a:r>
            <a:endParaRPr lang="en-US" sz="8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catat distribusi.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7159752" y="2798064"/>
            <a:ext cx="164592" cy="201168"/>
          </a:xfrm>
          <a:prstGeom prst="rightArrow">
            <a:avLst/>
          </a:prstGeom>
          <a:solidFill>
            <a:srgbClr val="B6C6DC"/>
          </a:solidFill>
          <a:ln w="12700">
            <a:solidFill>
              <a:srgbClr val="B6C6D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70064" y="2057400"/>
            <a:ext cx="201168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516368" y="2194560"/>
            <a:ext cx="347472" cy="34747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16368" y="2194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946136" y="219456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Bukti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946136" y="241401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Pengguna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516368" y="2706624"/>
            <a:ext cx="1719072" cy="256032"/>
          </a:xfrm>
          <a:prstGeom prst="roundRect">
            <a:avLst>
              <a:gd name="adj" fmla="val 178571"/>
            </a:avLst>
          </a:prstGeom>
          <a:solidFill>
            <a:srgbClr val="FEF3C7"/>
          </a:solidFill>
          <a:ln w="7620">
            <a:solidFill>
              <a:srgbClr val="FEF3C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16368" y="270662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Menunggu verifikasi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7516368" y="3044952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Unggah foto</a:t>
            </a:r>
            <a:endParaRPr lang="en-US" sz="8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bukti terima.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9427464" y="2798064"/>
            <a:ext cx="164592" cy="201168"/>
          </a:xfrm>
          <a:prstGeom prst="rightArrow">
            <a:avLst/>
          </a:prstGeom>
          <a:solidFill>
            <a:srgbClr val="B6C6DC"/>
          </a:solidFill>
          <a:ln w="12700">
            <a:solidFill>
              <a:srgbClr val="B6C6D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637776" y="2057400"/>
            <a:ext cx="201168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784080" y="2194560"/>
            <a:ext cx="347472" cy="347472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784080" y="2194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213848" y="219456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Verifikasi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10213848" y="241401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9784080" y="2706624"/>
            <a:ext cx="1719072" cy="256032"/>
          </a:xfrm>
          <a:prstGeom prst="roundRect">
            <a:avLst>
              <a:gd name="adj" fmla="val 178571"/>
            </a:avLst>
          </a:prstGeom>
          <a:solidFill>
            <a:srgbClr val="E8F7EE"/>
          </a:solidFill>
          <a:ln w="7620">
            <a:solidFill>
              <a:srgbClr val="E8F7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784080" y="270662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Selesai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9784080" y="3044952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Periksa bukti,</a:t>
            </a:r>
            <a:endParaRPr lang="en-US" sz="8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nyatakan selesai.</a:t>
            </a:r>
            <a:endParaRPr lang="en-US" sz="880" dirty="0"/>
          </a:p>
        </p:txBody>
      </p:sp>
      <p:sp>
        <p:nvSpPr>
          <p:cNvPr id="54" name="Shape 52"/>
          <p:cNvSpPr/>
          <p:nvPr/>
        </p:nvSpPr>
        <p:spPr>
          <a:xfrm>
            <a:off x="548640" y="4160520"/>
            <a:ext cx="5413248" cy="1691640"/>
          </a:xfrm>
          <a:prstGeom prst="roundRect">
            <a:avLst>
              <a:gd name="adj" fmla="val 3784"/>
            </a:avLst>
          </a:prstGeom>
          <a:solidFill>
            <a:srgbClr val="E8F0FE"/>
          </a:solidFill>
          <a:ln w="10160">
            <a:solidFill>
              <a:srgbClr val="C7D8F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77240" y="43251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 titik kendali stok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777240" y="4626864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94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Stok diverifikasi dan dikurangi saat Admin menyetujui.</a:t>
            </a:r>
            <a:endParaRPr lang="en-US" sz="94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4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Stok tidak berubah saat pengajuan masih Menunggu atau saat distribusi dicatat.</a:t>
            </a:r>
            <a:endParaRPr lang="en-US" sz="940" dirty="0"/>
          </a:p>
        </p:txBody>
      </p:sp>
      <p:sp>
        <p:nvSpPr>
          <p:cNvPr id="57" name="Shape 55"/>
          <p:cNvSpPr/>
          <p:nvPr/>
        </p:nvSpPr>
        <p:spPr>
          <a:xfrm>
            <a:off x="6227064" y="4160520"/>
            <a:ext cx="5413248" cy="1691640"/>
          </a:xfrm>
          <a:prstGeom prst="roundRect">
            <a:avLst>
              <a:gd name="adj" fmla="val 3784"/>
            </a:avLst>
          </a:prstGeom>
          <a:solidFill>
            <a:srgbClr val="F5F8FD"/>
          </a:solidFill>
          <a:ln w="10160">
            <a:solidFill>
              <a:srgbClr val="DCE5F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55664" y="43251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 status akhir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6455664" y="4626864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4000"/>
              </a:lnSpc>
              <a:buNone/>
            </a:pPr>
            <a:r>
              <a:rPr lang="en-US" sz="94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Selesai  = bukti sudah diverifikasi dan masuk laporan.</a:t>
            </a:r>
            <a:endParaRPr lang="en-US" sz="94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94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Ditolak  = pengajuan tidak diproses; stok tidak berubah.</a:t>
            </a:r>
            <a:endParaRPr lang="en-US" sz="94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94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Perlu perbaikan  = bukti belum memenuhi syarat, Pengguna mengunggah ulang.</a:t>
            </a:r>
            <a:endParaRPr lang="en-US" sz="9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93192"/>
            <a:ext cx="68580" cy="182880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566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 PLBN WINI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5778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pengajuan dan status bukti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pengajuan berjalan satu arah. Status bukti memiliki cabang verifikasi dan perbaikan.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4415" cy="12802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492240"/>
            <a:ext cx="11094415" cy="9144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3796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 PLBN Wini  |  Panduan Penggunaan Sistem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185855" y="6537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16824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PENGAJUAN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1975104"/>
            <a:ext cx="2240280" cy="457200"/>
          </a:xfrm>
          <a:prstGeom prst="roundRect">
            <a:avLst>
              <a:gd name="adj" fmla="val 100000"/>
            </a:avLst>
          </a:prstGeom>
          <a:solidFill>
            <a:srgbClr val="FEF3C7"/>
          </a:solidFill>
          <a:ln w="7620">
            <a:solidFill>
              <a:srgbClr val="FEF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97510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Menunggu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24871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Pengajuan baru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3063240" y="2112264"/>
            <a:ext cx="228600" cy="182880"/>
          </a:xfrm>
          <a:prstGeom prst="rightArrow">
            <a:avLst/>
          </a:prstGeom>
          <a:solidFill>
            <a:srgbClr val="B6C6DC"/>
          </a:solidFill>
          <a:ln w="12700">
            <a:solidFill>
              <a:srgbClr val="B6C6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1975104"/>
            <a:ext cx="2240280" cy="457200"/>
          </a:xfrm>
          <a:prstGeom prst="roundRect">
            <a:avLst>
              <a:gd name="adj" fmla="val 100000"/>
            </a:avLst>
          </a:prstGeom>
          <a:solidFill>
            <a:srgbClr val="E8F0FE"/>
          </a:solidFill>
          <a:ln w="7620">
            <a:solidFill>
              <a:srgbClr val="E8F0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97510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Disetujui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83280" y="24871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Stok berkurang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5715000" y="2112264"/>
            <a:ext cx="228600" cy="182880"/>
          </a:xfrm>
          <a:prstGeom prst="rightArrow">
            <a:avLst/>
          </a:prstGeom>
          <a:solidFill>
            <a:srgbClr val="B6C6DC"/>
          </a:solidFill>
          <a:ln w="12700">
            <a:solidFill>
              <a:srgbClr val="B6C6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975104"/>
            <a:ext cx="2240280" cy="457200"/>
          </a:xfrm>
          <a:prstGeom prst="roundRect">
            <a:avLst>
              <a:gd name="adj" fmla="val 100000"/>
            </a:avLst>
          </a:prstGeom>
          <a:solidFill>
            <a:srgbClr val="EFEBFF"/>
          </a:solidFill>
          <a:ln w="7620">
            <a:solidFill>
              <a:srgbClr val="EFE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97510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D4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Didistribusi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35040" y="24871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Barang dicatat keluar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8366760" y="2112264"/>
            <a:ext cx="228600" cy="182880"/>
          </a:xfrm>
          <a:prstGeom prst="rightArrow">
            <a:avLst/>
          </a:prstGeom>
          <a:solidFill>
            <a:srgbClr val="B6C6DC"/>
          </a:solidFill>
          <a:ln w="12700">
            <a:solidFill>
              <a:srgbClr val="B6C6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0" y="1975104"/>
            <a:ext cx="2240280" cy="457200"/>
          </a:xfrm>
          <a:prstGeom prst="roundRect">
            <a:avLst>
              <a:gd name="adj" fmla="val 100000"/>
            </a:avLst>
          </a:prstGeom>
          <a:solidFill>
            <a:srgbClr val="E8F7EE"/>
          </a:solidFill>
          <a:ln w="7620">
            <a:solidFill>
              <a:srgbClr val="E8F7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0" y="197510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Selesai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686800" y="24871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Masuk laporan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731520" y="2907792"/>
            <a:ext cx="1188720" cy="329184"/>
          </a:xfrm>
          <a:prstGeom prst="roundRect">
            <a:avLst>
              <a:gd name="adj" fmla="val 138889"/>
            </a:avLst>
          </a:prstGeom>
          <a:solidFill>
            <a:srgbClr val="FEECEC"/>
          </a:solidFill>
          <a:ln w="7620">
            <a:solidFill>
              <a:srgbClr val="FEEC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29077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Ditolak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2029968" y="2971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cabang dari Menunggu; stok tidak berubah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1325880" y="2468880"/>
            <a:ext cx="0" cy="420624"/>
          </a:xfrm>
          <a:prstGeom prst="line">
            <a:avLst/>
          </a:prstGeom>
          <a:noFill/>
          <a:ln w="11430">
            <a:solidFill>
              <a:srgbClr val="D9A3A3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48640" y="3456432"/>
            <a:ext cx="11091672" cy="10973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611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BUKTI PENERIMAAN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77240" y="3877056"/>
            <a:ext cx="2057400" cy="384048"/>
          </a:xfrm>
          <a:prstGeom prst="roundRect">
            <a:avLst>
              <a:gd name="adj" fmla="val 119048"/>
            </a:avLst>
          </a:prstGeom>
          <a:solidFill>
            <a:srgbClr val="EEF2F7"/>
          </a:solidFill>
          <a:ln w="7620">
            <a:solidFill>
              <a:srgbClr val="EEF2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387705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Belum ada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777240" y="431596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belum diunggah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944368" y="3995928"/>
            <a:ext cx="219456" cy="146304"/>
          </a:xfrm>
          <a:prstGeom prst="rightArrow">
            <a:avLst/>
          </a:prstGeom>
          <a:solidFill>
            <a:srgbClr val="B6C6DC"/>
          </a:solidFill>
          <a:ln w="12700">
            <a:solidFill>
              <a:srgbClr val="B6C6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91840" y="3877056"/>
            <a:ext cx="2331720" cy="384048"/>
          </a:xfrm>
          <a:prstGeom prst="roundRect">
            <a:avLst>
              <a:gd name="adj" fmla="val 119048"/>
            </a:avLst>
          </a:prstGeom>
          <a:solidFill>
            <a:srgbClr val="FEF3C7"/>
          </a:solidFill>
          <a:ln w="7620">
            <a:solidFill>
              <a:srgbClr val="FEF3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0" y="387705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Menunggu verifikasi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3291840" y="431596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sudah diunggah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623560" y="4069080"/>
            <a:ext cx="338328" cy="0"/>
          </a:xfrm>
          <a:prstGeom prst="line">
            <a:avLst/>
          </a:prstGeom>
          <a:noFill/>
          <a:ln w="12700">
            <a:solidFill>
              <a:srgbClr val="9FB3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61888" y="3675888"/>
            <a:ext cx="0" cy="786384"/>
          </a:xfrm>
          <a:prstGeom prst="line">
            <a:avLst/>
          </a:prstGeom>
          <a:noFill/>
          <a:ln w="12700">
            <a:solidFill>
              <a:srgbClr val="9FB3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61888" y="3675888"/>
            <a:ext cx="868680" cy="0"/>
          </a:xfrm>
          <a:prstGeom prst="line">
            <a:avLst/>
          </a:prstGeom>
          <a:noFill/>
          <a:ln w="12700">
            <a:solidFill>
              <a:srgbClr val="9FB3CC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961888" y="4462272"/>
            <a:ext cx="868680" cy="0"/>
          </a:xfrm>
          <a:prstGeom prst="line">
            <a:avLst/>
          </a:prstGeom>
          <a:noFill/>
          <a:ln w="12700">
            <a:solidFill>
              <a:srgbClr val="9FB3CC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903720" y="3502152"/>
            <a:ext cx="2148840" cy="365760"/>
          </a:xfrm>
          <a:prstGeom prst="roundRect">
            <a:avLst>
              <a:gd name="adj" fmla="val 125000"/>
            </a:avLst>
          </a:prstGeom>
          <a:solidFill>
            <a:srgbClr val="E8F7EE"/>
          </a:solidFill>
          <a:ln w="7620">
            <a:solidFill>
              <a:srgbClr val="E8F7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03720" y="350215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Terverifikasi</a:t>
            </a:r>
            <a:endParaRPr lang="en-US" sz="920" dirty="0"/>
          </a:p>
        </p:txBody>
      </p:sp>
      <p:sp>
        <p:nvSpPr>
          <p:cNvPr id="45" name="Text 43"/>
          <p:cNvSpPr/>
          <p:nvPr/>
        </p:nvSpPr>
        <p:spPr>
          <a:xfrm>
            <a:off x="6903720" y="389534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bukti diterima, pengajuan Selesai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6903720" y="4270248"/>
            <a:ext cx="2148840" cy="365760"/>
          </a:xfrm>
          <a:prstGeom prst="roundRect">
            <a:avLst>
              <a:gd name="adj" fmla="val 125000"/>
            </a:avLst>
          </a:prstGeom>
          <a:solidFill>
            <a:srgbClr val="FEECEC"/>
          </a:solidFill>
          <a:ln w="7620">
            <a:solidFill>
              <a:srgbClr val="FEEC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03720" y="42702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Perlu perbaikan</a:t>
            </a:r>
            <a:endParaRPr lang="en-US" sz="920" dirty="0"/>
          </a:p>
        </p:txBody>
      </p:sp>
      <p:sp>
        <p:nvSpPr>
          <p:cNvPr id="48" name="Text 46"/>
          <p:cNvSpPr/>
          <p:nvPr/>
        </p:nvSpPr>
        <p:spPr>
          <a:xfrm>
            <a:off x="6903720" y="466344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bukti kurang jelas, unggah ulang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548640" y="4892040"/>
            <a:ext cx="5413248" cy="1024128"/>
          </a:xfrm>
          <a:prstGeom prst="roundRect">
            <a:avLst>
              <a:gd name="adj" fmla="val 5357"/>
            </a:avLst>
          </a:prstGeom>
          <a:solidFill>
            <a:srgbClr val="F5F8FD"/>
          </a:solidFill>
          <a:ln w="10160">
            <a:solidFill>
              <a:srgbClr val="DCE5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1520" y="501091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Pesan tidak mengubah status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31520" y="525780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Pesan distribusi hanya pemberitahuan satu arah. Perubahan status tetap melalui persetujuan, distribusi, dan verifikasi Admin.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6227064" y="4892040"/>
            <a:ext cx="5413248" cy="1024128"/>
          </a:xfrm>
          <a:prstGeom prst="roundRect">
            <a:avLst>
              <a:gd name="adj" fmla="val 5357"/>
            </a:avLst>
          </a:prstGeom>
          <a:solidFill>
            <a:srgbClr val="F5F8FD"/>
          </a:solidFill>
          <a:ln w="10160">
            <a:solidFill>
              <a:srgbClr val="DCE5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9944" y="501091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Aturan penghapusan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409944" y="525780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Pengguna hanya dapat menghapus pengajuan yang masih Menunggu. Setelah diproses Admin, pengajuan tidak dapat dihapus.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93192"/>
            <a:ext cx="68580" cy="182880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566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 PLBN WINI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5778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Masuk ke sistem dengan aman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Gunakan akun yang diberikan Admin. Halaman login juga menyediakan pemulihan berbasis NIK.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4415" cy="12802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492240"/>
            <a:ext cx="11094415" cy="9144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3796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 PLBN Wini  |  Panduan Penggunaan Sistem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185855" y="6537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003036" y="2088261"/>
            <a:ext cx="5678424" cy="3586734"/>
          </a:xfrm>
          <a:prstGeom prst="roundRect">
            <a:avLst>
              <a:gd name="adj" fmla="val 765"/>
            </a:avLst>
          </a:prstGeom>
          <a:solidFill>
            <a:srgbClr val="FFFFFF"/>
          </a:solidFill>
          <a:ln w="11430">
            <a:solidFill>
              <a:srgbClr val="D5DF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6000"/>
              </a:srgbClr>
            </a:outerShdw>
          </a:effectLst>
        </p:spPr>
      </p:sp>
      <p:pic>
        <p:nvPicPr>
          <p:cNvPr id="11" name="Image 0" descr="Tangkapan layar aplikasi: 02_log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2138553"/>
            <a:ext cx="5577840" cy="348615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48640" y="1700784"/>
            <a:ext cx="310896" cy="310896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1700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87552" y="167335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Masukkan username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987552" y="191109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Ketik username yang diberikan Admin, tanpa spasi tambahan.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548640" y="2688336"/>
            <a:ext cx="310896" cy="310896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2688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87552" y="266090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Masukkan password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87552" y="28986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Perhatikan Caps Lock. Ikon mata membantu memeriksa isi kolom.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548640" y="3675888"/>
            <a:ext cx="310896" cy="310896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3675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87552" y="364845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Lupa akses?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987552" y="3886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Gunakan tautan Lupa Username &amp; Password? lalu verifikasi NIK.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548640" y="4663440"/>
            <a:ext cx="310896" cy="310896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987552" y="463600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Klik Login ke Sistem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987552" y="48737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Jika berhasil, Anda diarahkan ke dashboard sesuai peran.</a:t>
            </a:r>
            <a:endParaRPr lang="en-US" sz="930" dirty="0"/>
          </a:p>
        </p:txBody>
      </p:sp>
      <p:sp>
        <p:nvSpPr>
          <p:cNvPr id="28" name="Shape 25"/>
          <p:cNvSpPr/>
          <p:nvPr/>
        </p:nvSpPr>
        <p:spPr>
          <a:xfrm>
            <a:off x="548640" y="5623560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E8F0FE"/>
          </a:solidFill>
          <a:ln w="8890">
            <a:solidFill>
              <a:srgbClr val="C7D8F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5800" y="562356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Keamanan: Admin tidak pernah meminta password melalui telepon, pesan singkat, atau pesan aplikasi.</a:t>
            </a:r>
            <a:endParaRPr lang="en-US" sz="860" dirty="0"/>
          </a:p>
        </p:txBody>
      </p:sp>
      <p:sp>
        <p:nvSpPr>
          <p:cNvPr id="30" name="Shape 27"/>
          <p:cNvSpPr/>
          <p:nvPr/>
        </p:nvSpPr>
        <p:spPr>
          <a:xfrm>
            <a:off x="8091526" y="3605022"/>
            <a:ext cx="274320" cy="274320"/>
          </a:xfrm>
          <a:prstGeom prst="ellipse">
            <a:avLst/>
          </a:prstGeom>
          <a:solidFill>
            <a:srgbClr val="1D6FE8"/>
          </a:solidFill>
          <a:ln w="1778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8091526" y="360502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091526" y="3883914"/>
            <a:ext cx="274320" cy="274320"/>
          </a:xfrm>
          <a:prstGeom prst="ellipse">
            <a:avLst/>
          </a:prstGeom>
          <a:solidFill>
            <a:srgbClr val="1D6FE8"/>
          </a:solidFill>
          <a:ln w="1778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8091526" y="38839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9039758" y="4058221"/>
            <a:ext cx="274320" cy="274320"/>
          </a:xfrm>
          <a:prstGeom prst="ellipse">
            <a:avLst/>
          </a:prstGeom>
          <a:solidFill>
            <a:srgbClr val="1D6FE8"/>
          </a:solidFill>
          <a:ln w="1778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9039758" y="405822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8705088" y="4267390"/>
            <a:ext cx="274320" cy="274320"/>
          </a:xfrm>
          <a:prstGeom prst="ellipse">
            <a:avLst/>
          </a:prstGeom>
          <a:solidFill>
            <a:srgbClr val="1D6FE8"/>
          </a:solidFill>
          <a:ln w="1778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8705088" y="426739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6053328" y="6199632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Tangkapan layar: halaman login aplikasi. Kolom password tidak diisi.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93192"/>
            <a:ext cx="68580" cy="182880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566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 PLBN WINI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5778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Admin: ringkasan dalam satu layar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Kartu angka memberi gambaran cepat; tabel di bawah menampilkan pengajuan terbaru.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4415" cy="12802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492240"/>
            <a:ext cx="11094415" cy="9144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3796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 PLBN Wini  |  Panduan Penggunaan Sistem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185855" y="6537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177894" y="1595628"/>
            <a:ext cx="7445045" cy="4690872"/>
          </a:xfrm>
          <a:prstGeom prst="roundRect">
            <a:avLst>
              <a:gd name="adj" fmla="val 585"/>
            </a:avLst>
          </a:prstGeom>
          <a:solidFill>
            <a:srgbClr val="FFFFFF"/>
          </a:solidFill>
          <a:ln w="11430">
            <a:solidFill>
              <a:srgbClr val="D5DF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6000"/>
              </a:srgbClr>
            </a:outerShdw>
          </a:effectLst>
        </p:spPr>
      </p:sp>
      <p:pic>
        <p:nvPicPr>
          <p:cNvPr id="11" name="Image 0" descr="Tangkapan layar aplikasi: 05_admin_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8186" y="1645920"/>
            <a:ext cx="7344461" cy="459028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48640" y="1755648"/>
            <a:ext cx="274320" cy="274320"/>
          </a:xfrm>
          <a:prstGeom prst="ellipse">
            <a:avLst/>
          </a:prstGeom>
          <a:solidFill>
            <a:srgbClr val="1D6FE8"/>
          </a:solidFill>
          <a:ln w="6350">
            <a:solidFill>
              <a:srgbClr val="1D6F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1755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41832" y="171907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Navigasi peran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941832" y="1975104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 Admin: Barang, Pengajuan, Distribusi, Laporan, dan Anggota.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548640" y="2807208"/>
            <a:ext cx="274320" cy="274320"/>
          </a:xfrm>
          <a:prstGeom prst="ellipse">
            <a:avLst/>
          </a:prstGeom>
          <a:solidFill>
            <a:srgbClr val="1D6FE8"/>
          </a:solidFill>
          <a:ln w="6350">
            <a:solidFill>
              <a:srgbClr val="1D6F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2807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41832" y="277063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Ringkasan status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41832" y="3026664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pengajuan, Menunggu, Disetujui, Ditolak, Didistribusi, dan Selesai.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548640" y="4178808"/>
            <a:ext cx="274320" cy="274320"/>
          </a:xfrm>
          <a:prstGeom prst="ellipse">
            <a:avLst/>
          </a:prstGeom>
          <a:solidFill>
            <a:srgbClr val="1D6FE8"/>
          </a:solidFill>
          <a:ln w="6350">
            <a:solidFill>
              <a:srgbClr val="1D6F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4178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41832" y="414223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Pengajuan terbaru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941832" y="4398264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Tabel ringkas dengan tombol Detail untuk membuka data lengkap.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548640" y="5276088"/>
            <a:ext cx="274320" cy="274320"/>
          </a:xfrm>
          <a:prstGeom prst="ellipse">
            <a:avLst/>
          </a:prstGeom>
          <a:solidFill>
            <a:srgbClr val="1D6FE8"/>
          </a:solidFill>
          <a:ln w="6350">
            <a:solidFill>
              <a:srgbClr val="1D6F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5276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41832" y="523951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Persentase penyelesaian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941832" y="5495544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Perbandingan pengajuan selesai terhadap seluruh pengajuan.</a:t>
            </a:r>
            <a:endParaRPr lang="en-US" sz="930" dirty="0"/>
          </a:p>
        </p:txBody>
      </p:sp>
      <p:sp>
        <p:nvSpPr>
          <p:cNvPr id="28" name="Shape 25"/>
          <p:cNvSpPr/>
          <p:nvPr/>
        </p:nvSpPr>
        <p:spPr>
          <a:xfrm>
            <a:off x="5288173" y="2839944"/>
            <a:ext cx="274320" cy="274320"/>
          </a:xfrm>
          <a:prstGeom prst="ellipse">
            <a:avLst/>
          </a:prstGeom>
          <a:solidFill>
            <a:srgbClr val="1D6FE8"/>
          </a:solidFill>
          <a:ln w="1778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5288173" y="2839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983590" y="2527804"/>
            <a:ext cx="274320" cy="274320"/>
          </a:xfrm>
          <a:prstGeom prst="ellipse">
            <a:avLst/>
          </a:prstGeom>
          <a:solidFill>
            <a:srgbClr val="1D6FE8"/>
          </a:solidFill>
          <a:ln w="1778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7983590" y="25278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130479" y="3597341"/>
            <a:ext cx="274320" cy="274320"/>
          </a:xfrm>
          <a:prstGeom prst="ellipse">
            <a:avLst/>
          </a:prstGeom>
          <a:solidFill>
            <a:srgbClr val="1D6FE8"/>
          </a:solidFill>
          <a:ln w="1778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8130479" y="359734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6331086" y="3344875"/>
            <a:ext cx="274320" cy="274320"/>
          </a:xfrm>
          <a:prstGeom prst="ellipse">
            <a:avLst/>
          </a:prstGeom>
          <a:solidFill>
            <a:srgbClr val="1D6FE8"/>
          </a:solidFill>
          <a:ln w="1778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6331086" y="334487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4160520" y="628192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Tangkapan layar: Dashboard Admin dengan data uji. Angka dapat berubah sesuai data aktual.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93192"/>
            <a:ext cx="68580" cy="182880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566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 PLBN WINI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5778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Kelola Barang: stok dan katalog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Tambah barang, cari data, perbarui stok, atau hapus barang yang tidak lagi dipakai.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4415" cy="12802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492240"/>
            <a:ext cx="11094415" cy="9144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3796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 PLBN Wini  |  Panduan Penggunaan Sistem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185855" y="6537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388206" y="1595628"/>
            <a:ext cx="7298741" cy="4599432"/>
          </a:xfrm>
          <a:prstGeom prst="roundRect">
            <a:avLst>
              <a:gd name="adj" fmla="val 596"/>
            </a:avLst>
          </a:prstGeom>
          <a:solidFill>
            <a:srgbClr val="FFFFFF"/>
          </a:solidFill>
          <a:ln w="11430">
            <a:solidFill>
              <a:srgbClr val="D5DF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6000"/>
              </a:srgbClr>
            </a:outerShdw>
          </a:effectLst>
        </p:spPr>
      </p:sp>
      <p:pic>
        <p:nvPicPr>
          <p:cNvPr id="11" name="Image 0" descr="Tangkapan layar aplikasi: 06_admin_bara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8498" y="1645920"/>
            <a:ext cx="7198157" cy="449884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48640" y="1755648"/>
            <a:ext cx="274320" cy="274320"/>
          </a:xfrm>
          <a:prstGeom prst="ellipse">
            <a:avLst/>
          </a:prstGeom>
          <a:solidFill>
            <a:srgbClr val="1D6FE8"/>
          </a:solidFill>
          <a:ln w="6350">
            <a:solidFill>
              <a:srgbClr val="1D6F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1755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41832" y="1719072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Tambah Barang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941832" y="1975104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Membuka formulir nama, jenis, satuan, stok, dan gambar barang.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548640" y="2715768"/>
            <a:ext cx="274320" cy="274320"/>
          </a:xfrm>
          <a:prstGeom prst="ellipse">
            <a:avLst/>
          </a:prstGeom>
          <a:solidFill>
            <a:srgbClr val="1D6FE8"/>
          </a:solidFill>
          <a:ln w="6350">
            <a:solidFill>
              <a:srgbClr val="1D6F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2715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41832" y="2679192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Cari dan filter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41832" y="2935224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Cari berdasarkan nama atau saring menurut jenis barang.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548640" y="3675888"/>
            <a:ext cx="274320" cy="274320"/>
          </a:xfrm>
          <a:prstGeom prst="ellipse">
            <a:avLst/>
          </a:prstGeom>
          <a:solidFill>
            <a:srgbClr val="1D6FE8"/>
          </a:solidFill>
          <a:ln w="6350">
            <a:solidFill>
              <a:srgbClr val="1D6F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41832" y="3639312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 dan Hapus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941832" y="3895344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 memperbarui data/stok; Hapus menolak barang yang punya riwayat.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548640" y="4892040"/>
            <a:ext cx="3611880" cy="1188720"/>
          </a:xfrm>
          <a:prstGeom prst="roundRect">
            <a:avLst>
              <a:gd name="adj" fmla="val 4615"/>
            </a:avLst>
          </a:prstGeom>
          <a:solidFill>
            <a:srgbClr val="FEF3C7"/>
          </a:solidFill>
          <a:ln w="8890">
            <a:solidFill>
              <a:srgbClr val="F2D28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" y="50109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Ingat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13232" y="52578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Mengubah stok di sini tidak menghapus riwayat pengajuan. Stok juga berkurang otomatis saat pengajuan disetujui.</a:t>
            </a:r>
            <a:endParaRPr lang="en-US" sz="870" dirty="0"/>
          </a:p>
        </p:txBody>
      </p:sp>
      <p:sp>
        <p:nvSpPr>
          <p:cNvPr id="27" name="Shape 24"/>
          <p:cNvSpPr/>
          <p:nvPr/>
        </p:nvSpPr>
        <p:spPr>
          <a:xfrm>
            <a:off x="10239817" y="1801185"/>
            <a:ext cx="274320" cy="274320"/>
          </a:xfrm>
          <a:prstGeom prst="ellipse">
            <a:avLst/>
          </a:prstGeom>
          <a:solidFill>
            <a:srgbClr val="1D6FE8"/>
          </a:solidFill>
          <a:ln w="1778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10239817" y="180118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712720" y="3173334"/>
            <a:ext cx="274320" cy="274320"/>
          </a:xfrm>
          <a:prstGeom prst="ellipse">
            <a:avLst/>
          </a:prstGeom>
          <a:solidFill>
            <a:srgbClr val="1D6FE8"/>
          </a:solidFill>
          <a:ln w="1778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712720" y="31733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11247559" y="3758184"/>
            <a:ext cx="274320" cy="274320"/>
          </a:xfrm>
          <a:prstGeom prst="ellipse">
            <a:avLst/>
          </a:prstGeom>
          <a:solidFill>
            <a:srgbClr val="1D6FE8"/>
          </a:solidFill>
          <a:ln w="1778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11247559" y="3758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434840" y="623620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Tangkapan layar: halaman Kelola Barang. Data dan jumlah stok adalah data uji.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93192"/>
            <a:ext cx="68580" cy="182880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566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 PLBN WINI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5778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Kelola Pengajuan: periksa sebelum memutuskan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Buka detail untuk melihat barang, jumlah, catatan, dan status bukti sebelum menyetujui.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4415" cy="12802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492240"/>
            <a:ext cx="11094415" cy="9144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3796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 PLBN Wini  |  Panduan Penggunaan Sistem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185855" y="6537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47388" y="1596200"/>
            <a:ext cx="7443216" cy="4689729"/>
          </a:xfrm>
          <a:prstGeom prst="roundRect">
            <a:avLst>
              <a:gd name="adj" fmla="val 585"/>
            </a:avLst>
          </a:prstGeom>
          <a:solidFill>
            <a:srgbClr val="FFFFFF"/>
          </a:solidFill>
          <a:ln w="11430">
            <a:solidFill>
              <a:srgbClr val="D5DF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6000"/>
              </a:srgbClr>
            </a:outerShdw>
          </a:effectLst>
        </p:spPr>
      </p:sp>
      <p:pic>
        <p:nvPicPr>
          <p:cNvPr id="11" name="Image 0" descr="Tangkapan layar aplikasi: 09_admin_pengaju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646492"/>
            <a:ext cx="7342632" cy="458914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48640" y="1755648"/>
            <a:ext cx="274320" cy="274320"/>
          </a:xfrm>
          <a:prstGeom prst="ellipse">
            <a:avLst/>
          </a:prstGeom>
          <a:solidFill>
            <a:srgbClr val="1D6FE8"/>
          </a:solidFill>
          <a:ln w="6350">
            <a:solidFill>
              <a:srgbClr val="1D6F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1755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41832" y="1719072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Daftar semua pengajuan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941832" y="1975104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Satu baris per pengajuan, lengkap dengan pengaju dan divisi.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548640" y="2779776"/>
            <a:ext cx="274320" cy="274320"/>
          </a:xfrm>
          <a:prstGeom prst="ellipse">
            <a:avLst/>
          </a:prstGeom>
          <a:solidFill>
            <a:srgbClr val="1D6FE8"/>
          </a:solidFill>
          <a:ln w="6350">
            <a:solidFill>
              <a:srgbClr val="1D6F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41832" y="2743200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berwarna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41832" y="2999232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Menunggu, Disetujui, Ditolak, Didistribusi, dan Selesai.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548640" y="3803904"/>
            <a:ext cx="274320" cy="274320"/>
          </a:xfrm>
          <a:prstGeom prst="ellipse">
            <a:avLst/>
          </a:prstGeom>
          <a:solidFill>
            <a:srgbClr val="1D6FE8"/>
          </a:solidFill>
          <a:ln w="6350">
            <a:solidFill>
              <a:srgbClr val="1D6F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3803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41832" y="3767328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Tombol Detail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941832" y="4023360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Membuka rincian barang, catatan, status bukti, dan tindakan.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548640" y="4956048"/>
            <a:ext cx="3456432" cy="1115568"/>
          </a:xfrm>
          <a:prstGeom prst="roundRect">
            <a:avLst>
              <a:gd name="adj" fmla="val 4918"/>
            </a:avLst>
          </a:prstGeom>
          <a:solidFill>
            <a:srgbClr val="E8F0FE"/>
          </a:solidFill>
          <a:ln w="8890">
            <a:solidFill>
              <a:srgbClr val="C7D8F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04088" y="507492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Keputusan Admin</a:t>
            </a:r>
            <a:endParaRPr lang="en-US" sz="1030" dirty="0"/>
          </a:p>
        </p:txBody>
      </p:sp>
      <p:sp>
        <p:nvSpPr>
          <p:cNvPr id="26" name="Text 23"/>
          <p:cNvSpPr/>
          <p:nvPr/>
        </p:nvSpPr>
        <p:spPr>
          <a:xfrm>
            <a:off x="704088" y="5312664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7000"/>
              </a:lnSpc>
              <a:buNone/>
            </a:pPr>
            <a:r>
              <a:rPr lang="en-US" sz="84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Setujui atau Tolak hanya tersedia saat status Menunggu. Pada data uji semua pengajuan sudah diproses, sehingga tombol itu tidak tampak.</a:t>
            </a:r>
            <a:endParaRPr lang="en-US" sz="840" dirty="0"/>
          </a:p>
        </p:txBody>
      </p:sp>
      <p:sp>
        <p:nvSpPr>
          <p:cNvPr id="27" name="Shape 24"/>
          <p:cNvSpPr/>
          <p:nvPr/>
        </p:nvSpPr>
        <p:spPr>
          <a:xfrm>
            <a:off x="5482194" y="3367935"/>
            <a:ext cx="274320" cy="274320"/>
          </a:xfrm>
          <a:prstGeom prst="ellipse">
            <a:avLst/>
          </a:prstGeom>
          <a:solidFill>
            <a:srgbClr val="1D6FE8"/>
          </a:solidFill>
          <a:ln w="1778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482194" y="336793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10254905" y="3367935"/>
            <a:ext cx="274320" cy="274320"/>
          </a:xfrm>
          <a:prstGeom prst="ellipse">
            <a:avLst/>
          </a:prstGeom>
          <a:solidFill>
            <a:srgbClr val="1D6FE8"/>
          </a:solidFill>
          <a:ln w="1778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10254905" y="336793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10879028" y="3367935"/>
            <a:ext cx="274320" cy="274320"/>
          </a:xfrm>
          <a:prstGeom prst="ellipse">
            <a:avLst/>
          </a:prstGeom>
          <a:solidFill>
            <a:srgbClr val="1D6FE8"/>
          </a:solidFill>
          <a:ln w="1778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10879028" y="336793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297680" y="6281928"/>
            <a:ext cx="7269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Tangkapan layar: daftar pengajuan Admin. Nama dan data pribadi telah disamarkan.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93192"/>
            <a:ext cx="68580" cy="182880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566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 PLBN WINI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5778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Distribusi dan verifikasi bukti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Tiga panel memisahkan pekerjaan: siap didistribusikan, bukti menunggu verifikasi, dan distribusi berjalan.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4415" cy="12802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492240"/>
            <a:ext cx="11094415" cy="9144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3796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 PLBN Wini  |  Panduan Penggunaan Sistem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185855" y="6537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98348" y="1619060"/>
            <a:ext cx="5541264" cy="4589145"/>
          </a:xfrm>
          <a:prstGeom prst="roundRect">
            <a:avLst>
              <a:gd name="adj" fmla="val 598"/>
            </a:avLst>
          </a:prstGeom>
          <a:solidFill>
            <a:srgbClr val="FFFFFF"/>
          </a:solidFill>
          <a:ln w="11430">
            <a:solidFill>
              <a:srgbClr val="D5DF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6000"/>
              </a:srgbClr>
            </a:outerShdw>
          </a:effectLst>
        </p:spPr>
      </p:sp>
      <p:pic>
        <p:nvPicPr>
          <p:cNvPr id="11" name="Image 0" descr="Tangkapan layar aplikasi: 11_admin_distribus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69351"/>
            <a:ext cx="5440680" cy="448856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263640" y="1700784"/>
            <a:ext cx="329184" cy="329184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63640" y="1700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20840" y="16642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Catat distribusi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720840" y="1929384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Pilih pengajuan Disetujui, isi tanggal dan catatan, lalu simpan. Status menjadi Didistribusi.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6263640" y="2862072"/>
            <a:ext cx="329184" cy="329184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63640" y="2862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20840" y="282549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Kirim pesan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720840" y="3090672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Gunakan Kirim Pesan untuk memberi tahu Pengguna. Pesan tidak mengubah status.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6263640" y="4023360"/>
            <a:ext cx="329184" cy="329184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63640" y="4023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720840" y="398678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Verifikasi bukti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720840" y="425196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Periksa foto yang diunggah. Setujui menjadi Selesai atau minta perbaikan.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6263640" y="5230368"/>
            <a:ext cx="4892040" cy="841248"/>
          </a:xfrm>
          <a:prstGeom prst="roundRect">
            <a:avLst>
              <a:gd name="adj" fmla="val 6522"/>
            </a:avLst>
          </a:prstGeom>
          <a:solidFill>
            <a:srgbClr val="E8F7EE"/>
          </a:solidFill>
          <a:ln w="8890">
            <a:solidFill>
              <a:srgbClr val="BFE3C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19088" y="5330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Bukti yang diterima</a:t>
            </a:r>
            <a:endParaRPr lang="en-US" sz="1030" dirty="0"/>
          </a:p>
        </p:txBody>
      </p:sp>
      <p:sp>
        <p:nvSpPr>
          <p:cNvPr id="26" name="Text 23"/>
          <p:cNvSpPr/>
          <p:nvPr/>
        </p:nvSpPr>
        <p:spPr>
          <a:xfrm>
            <a:off x="6419088" y="5550408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JPG, PNG, atau WEBP; maksimal 5 MB. Setelah diverifikasi, status pengajuan menjadi Selesai.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580126" y="2250361"/>
            <a:ext cx="274320" cy="274320"/>
          </a:xfrm>
          <a:prstGeom prst="ellipse">
            <a:avLst/>
          </a:prstGeom>
          <a:solidFill>
            <a:srgbClr val="1D6FE8"/>
          </a:solidFill>
          <a:ln w="1778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580126" y="225036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580126" y="3507158"/>
            <a:ext cx="274320" cy="274320"/>
          </a:xfrm>
          <a:prstGeom prst="ellipse">
            <a:avLst/>
          </a:prstGeom>
          <a:solidFill>
            <a:srgbClr val="1D6FE8"/>
          </a:solidFill>
          <a:ln w="1778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5580126" y="350715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5580126" y="4763955"/>
            <a:ext cx="274320" cy="274320"/>
          </a:xfrm>
          <a:prstGeom prst="ellipse">
            <a:avLst/>
          </a:prstGeom>
          <a:solidFill>
            <a:srgbClr val="1D6FE8"/>
          </a:solidFill>
          <a:ln w="1778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580126" y="476395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48640" y="6263640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Tangkapan layar: halaman Distribusi dalam keadaan kosong karena tidak ada data pada tahap tersebut.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93192"/>
            <a:ext cx="68580" cy="182880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566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 PLBN WINI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5778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Laporan siap cetak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Laporan hanya memuat pengajuan Selesai dan mengikuti periode yang dipilih.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4415" cy="12802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492240"/>
            <a:ext cx="11094415" cy="9144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3796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 PLBN Wini  |  Panduan Penggunaan Sistem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185855" y="6537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00750" y="1522476"/>
            <a:ext cx="6883964" cy="4782312"/>
          </a:xfrm>
          <a:prstGeom prst="roundRect">
            <a:avLst>
              <a:gd name="adj" fmla="val 574"/>
            </a:avLst>
          </a:prstGeom>
          <a:solidFill>
            <a:srgbClr val="FFFFFF"/>
          </a:solidFill>
          <a:ln w="11430">
            <a:solidFill>
              <a:srgbClr val="D5DF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6000"/>
              </a:srgbClr>
            </a:outerShdw>
          </a:effectLst>
        </p:spPr>
      </p:sp>
      <p:pic>
        <p:nvPicPr>
          <p:cNvPr id="11" name="Image 0" descr="Tangkapan layar aplikasi: 13_admin_laporan_ceta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1042" y="1572768"/>
            <a:ext cx="6783380" cy="468172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48640" y="1737360"/>
            <a:ext cx="54864" cy="713232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17007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periode</a:t>
            </a:r>
            <a:endParaRPr lang="en-US" sz="1130" dirty="0"/>
          </a:p>
        </p:txBody>
      </p:sp>
      <p:sp>
        <p:nvSpPr>
          <p:cNvPr id="14" name="Text 11"/>
          <p:cNvSpPr/>
          <p:nvPr/>
        </p:nvSpPr>
        <p:spPr>
          <a:xfrm>
            <a:off x="731520" y="193852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Pilih Per Bulan atau rentang tanggal, lalu klik Terapkan Filter.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8640" y="2743200"/>
            <a:ext cx="54864" cy="713232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27066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Hanya status Selesai</a:t>
            </a:r>
            <a:endParaRPr lang="en-US" sz="1130" dirty="0"/>
          </a:p>
        </p:txBody>
      </p:sp>
      <p:sp>
        <p:nvSpPr>
          <p:cNvPr id="17" name="Text 14"/>
          <p:cNvSpPr/>
          <p:nvPr/>
        </p:nvSpPr>
        <p:spPr>
          <a:xfrm>
            <a:off x="731520" y="294436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Pengajuan Ditolak atau yang masih berjalan tidak masuk laporan.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" y="3749040"/>
            <a:ext cx="54864" cy="713232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37124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Cetak Laporan</a:t>
            </a:r>
            <a:endParaRPr lang="en-US" sz="1130" dirty="0"/>
          </a:p>
        </p:txBody>
      </p:sp>
      <p:sp>
        <p:nvSpPr>
          <p:cNvPr id="20" name="Text 17"/>
          <p:cNvSpPr/>
          <p:nvPr/>
        </p:nvSpPr>
        <p:spPr>
          <a:xfrm>
            <a:off x="731520" y="395020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Membuka pratinjau A4 dengan kop resmi PLBN Wini.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48640" y="4754880"/>
            <a:ext cx="54864" cy="713232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47183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Simpan sebagai PDF</a:t>
            </a:r>
            <a:endParaRPr lang="en-US" sz="1130" dirty="0"/>
          </a:p>
        </p:txBody>
      </p:sp>
      <p:sp>
        <p:nvSpPr>
          <p:cNvPr id="23" name="Text 20"/>
          <p:cNvSpPr/>
          <p:nvPr/>
        </p:nvSpPr>
        <p:spPr>
          <a:xfrm>
            <a:off x="731520" y="495604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Pada jendela cetak browser, pilih Save as PDF untuk arsip digital.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48640" y="5742432"/>
            <a:ext cx="3977640" cy="420624"/>
          </a:xfrm>
          <a:prstGeom prst="roundRect">
            <a:avLst>
              <a:gd name="adj" fmla="val 13043"/>
            </a:avLst>
          </a:prstGeom>
          <a:solidFill>
            <a:srgbClr val="FEF3C7"/>
          </a:solidFill>
          <a:ln w="8890">
            <a:solidFill>
              <a:srgbClr val="F2D28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7512" y="574243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Tidak ada ekspor Excel/PDF langsung; gunakan cetak browser.</a:t>
            </a:r>
            <a:endParaRPr lang="en-US" sz="820" dirty="0"/>
          </a:p>
        </p:txBody>
      </p:sp>
      <p:sp>
        <p:nvSpPr>
          <p:cNvPr id="26" name="Text 23"/>
          <p:cNvSpPr/>
          <p:nvPr/>
        </p:nvSpPr>
        <p:spPr>
          <a:xfrm>
            <a:off x="4645152" y="6263640"/>
            <a:ext cx="6903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Tangkapan layar: pratinjau cetak laporan A4 dengan kop instansi.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93192"/>
            <a:ext cx="68580" cy="182880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566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 PLBN WINI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5778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Kelola Anggota: akun dibuat oleh Admin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Tidak ada pendaftaran mandiri. Admin membuat akun Pengguna dan dapat mengubah atau menghapusnya.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4415" cy="12802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492240"/>
            <a:ext cx="11094415" cy="9144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3796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 PLBN Wini  |  Panduan Penggunaan Sistem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185855" y="6537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65676" y="1595628"/>
            <a:ext cx="7415784" cy="4672584"/>
          </a:xfrm>
          <a:prstGeom prst="roundRect">
            <a:avLst>
              <a:gd name="adj" fmla="val 587"/>
            </a:avLst>
          </a:prstGeom>
          <a:solidFill>
            <a:srgbClr val="FFFFFF"/>
          </a:solidFill>
          <a:ln w="11430">
            <a:solidFill>
              <a:srgbClr val="D5DF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6000"/>
              </a:srgbClr>
            </a:outerShdw>
          </a:effectLst>
        </p:spPr>
      </p:sp>
      <p:pic>
        <p:nvPicPr>
          <p:cNvPr id="11" name="Image 0" descr="Tangkapan layar aplikasi: 14_admin_anggot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5968" y="1645920"/>
            <a:ext cx="7315200" cy="45720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48640" y="1755648"/>
            <a:ext cx="274320" cy="274320"/>
          </a:xfrm>
          <a:prstGeom prst="ellipse">
            <a:avLst/>
          </a:prstGeom>
          <a:solidFill>
            <a:srgbClr val="1D6FE8"/>
          </a:solidFill>
          <a:ln w="6350">
            <a:solidFill>
              <a:srgbClr val="1D6F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1755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41832" y="171907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anggota baru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941832" y="1975104"/>
            <a:ext cx="3081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Username, nama lengkap, password, NIK, divisi, dan status kepegawaian.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548640" y="2898648"/>
            <a:ext cx="274320" cy="274320"/>
          </a:xfrm>
          <a:prstGeom prst="ellipse">
            <a:avLst/>
          </a:prstGeom>
          <a:solidFill>
            <a:srgbClr val="1D6FE8"/>
          </a:solidFill>
          <a:ln w="6350">
            <a:solidFill>
              <a:srgbClr val="1D6F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2898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41832" y="286207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Daftar anggota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41832" y="3118104"/>
            <a:ext cx="3081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Menampilkan username, nama, NIK tersamarkan, divisi, dan status.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548640" y="4041648"/>
            <a:ext cx="274320" cy="274320"/>
          </a:xfrm>
          <a:prstGeom prst="ellipse">
            <a:avLst/>
          </a:prstGeom>
          <a:solidFill>
            <a:srgbClr val="1D6FE8"/>
          </a:solidFill>
          <a:ln w="6350">
            <a:solidFill>
              <a:srgbClr val="1D6F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4041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41832" y="400507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 dan Hapus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941832" y="4261104"/>
            <a:ext cx="3081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Perbarui data akun atau hapus akun yang tidak lagi digunakan.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548640" y="5257800"/>
            <a:ext cx="3456432" cy="804672"/>
          </a:xfrm>
          <a:prstGeom prst="roundRect">
            <a:avLst>
              <a:gd name="adj" fmla="val 6818"/>
            </a:avLst>
          </a:prstGeom>
          <a:solidFill>
            <a:srgbClr val="E8F0FE"/>
          </a:solidFill>
          <a:ln w="8890">
            <a:solidFill>
              <a:srgbClr val="C7D8F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4944" y="535838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Aturan akun</a:t>
            </a:r>
            <a:endParaRPr lang="en-US" sz="1020" dirty="0"/>
          </a:p>
        </p:txBody>
      </p:sp>
      <p:sp>
        <p:nvSpPr>
          <p:cNvPr id="26" name="Text 23"/>
          <p:cNvSpPr/>
          <p:nvPr/>
        </p:nvSpPr>
        <p:spPr>
          <a:xfrm>
            <a:off x="694944" y="55778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8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 minimal 8 karakter; NIK harus 16 angka. Akun baru otomatis berperan Pengguna.</a:t>
            </a:r>
            <a:endParaRPr lang="en-US" sz="820" dirty="0"/>
          </a:p>
        </p:txBody>
      </p:sp>
      <p:sp>
        <p:nvSpPr>
          <p:cNvPr id="27" name="Shape 24"/>
          <p:cNvSpPr/>
          <p:nvPr/>
        </p:nvSpPr>
        <p:spPr>
          <a:xfrm>
            <a:off x="10616184" y="2423160"/>
            <a:ext cx="274320" cy="274320"/>
          </a:xfrm>
          <a:prstGeom prst="ellipse">
            <a:avLst/>
          </a:prstGeom>
          <a:solidFill>
            <a:srgbClr val="1D6FE8"/>
          </a:solidFill>
          <a:ln w="1778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10616184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10981944" y="4572000"/>
            <a:ext cx="274320" cy="274320"/>
          </a:xfrm>
          <a:prstGeom prst="ellipse">
            <a:avLst/>
          </a:prstGeom>
          <a:solidFill>
            <a:srgbClr val="1D6FE8"/>
          </a:solidFill>
          <a:ln w="1778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10981944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10908792" y="4983480"/>
            <a:ext cx="274320" cy="274320"/>
          </a:xfrm>
          <a:prstGeom prst="ellipse">
            <a:avLst/>
          </a:prstGeom>
          <a:solidFill>
            <a:srgbClr val="1D6FE8"/>
          </a:solidFill>
          <a:ln w="1778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1090879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315968" y="6272784"/>
            <a:ext cx="7269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Tangkapan layar: halaman Kelola Anggota. NIK dan data pribadi disamarkan.</a:t>
            </a:r>
            <a:endParaRPr lang="en-US" sz="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93192"/>
            <a:ext cx="68580" cy="182880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566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 PLBN WINI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5778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Ruang kerja Pengguna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menampilkan ringkasan pribadi; Daftar Barang menjadi katalog untuk mengajukan.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4415" cy="12802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492240"/>
            <a:ext cx="11094415" cy="9144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3796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 PLBN Wini  |  Panduan Penggunaan Sistem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185855" y="6537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98348" y="1651064"/>
            <a:ext cx="5541264" cy="3501009"/>
          </a:xfrm>
          <a:prstGeom prst="roundRect">
            <a:avLst>
              <a:gd name="adj" fmla="val 784"/>
            </a:avLst>
          </a:prstGeom>
          <a:solidFill>
            <a:srgbClr val="FFFFFF"/>
          </a:solidFill>
          <a:ln w="11430">
            <a:solidFill>
              <a:srgbClr val="D5DF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6000"/>
              </a:srgbClr>
            </a:outerShdw>
          </a:effectLst>
        </p:spPr>
      </p:sp>
      <p:pic>
        <p:nvPicPr>
          <p:cNvPr id="11" name="Image 0" descr="Tangkapan layar aplikasi: 16_user_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01356"/>
            <a:ext cx="5440680" cy="340042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149340" y="1651064"/>
            <a:ext cx="5541264" cy="3501009"/>
          </a:xfrm>
          <a:prstGeom prst="roundRect">
            <a:avLst>
              <a:gd name="adj" fmla="val 784"/>
            </a:avLst>
          </a:prstGeom>
          <a:solidFill>
            <a:srgbClr val="FFFFFF"/>
          </a:solidFill>
          <a:ln w="11430">
            <a:solidFill>
              <a:srgbClr val="D5DF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6000"/>
              </a:srgbClr>
            </a:outerShdw>
          </a:effectLst>
        </p:spPr>
      </p:sp>
      <p:pic>
        <p:nvPicPr>
          <p:cNvPr id="13" name="Image 1" descr="Tangkapan layar aplikasi: 17_user_baran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701356"/>
            <a:ext cx="5440680" cy="34004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" y="5157216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Dashboard: total pengajuan dan status</a:t>
            </a:r>
            <a:endParaRPr lang="en-US" sz="920" dirty="0"/>
          </a:p>
        </p:txBody>
      </p:sp>
      <p:sp>
        <p:nvSpPr>
          <p:cNvPr id="15" name="Text 11"/>
          <p:cNvSpPr/>
          <p:nvPr/>
        </p:nvSpPr>
        <p:spPr>
          <a:xfrm>
            <a:off x="6199632" y="5157216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Daftar Barang: katalog dan sisa stok</a:t>
            </a:r>
            <a:endParaRPr lang="en-US" sz="920" dirty="0"/>
          </a:p>
        </p:txBody>
      </p:sp>
      <p:sp>
        <p:nvSpPr>
          <p:cNvPr id="16" name="Text 12"/>
          <p:cNvSpPr/>
          <p:nvPr/>
        </p:nvSpPr>
        <p:spPr>
          <a:xfrm>
            <a:off x="548640" y="544068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Tangkapan layar: Dashboard dan Daftar Barang milik akun Pengguna (data uji).</a:t>
            </a:r>
            <a:endParaRPr lang="en-US" sz="780" dirty="0"/>
          </a:p>
        </p:txBody>
      </p:sp>
      <p:sp>
        <p:nvSpPr>
          <p:cNvPr id="17" name="Shape 13"/>
          <p:cNvSpPr/>
          <p:nvPr/>
        </p:nvSpPr>
        <p:spPr>
          <a:xfrm>
            <a:off x="548640" y="5669280"/>
            <a:ext cx="3547872" cy="512064"/>
          </a:xfrm>
          <a:prstGeom prst="roundRect">
            <a:avLst>
              <a:gd name="adj" fmla="val 10714"/>
            </a:avLst>
          </a:prstGeom>
          <a:solidFill>
            <a:srgbClr val="F5F8FD"/>
          </a:solidFill>
          <a:ln w="8890">
            <a:solidFill>
              <a:srgbClr val="DCE5F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76656" y="566928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kartu</a:t>
            </a:r>
            <a:endParaRPr lang="en-US" sz="940" dirty="0"/>
          </a:p>
        </p:txBody>
      </p:sp>
      <p:sp>
        <p:nvSpPr>
          <p:cNvPr id="19" name="Text 15"/>
          <p:cNvSpPr/>
          <p:nvPr/>
        </p:nvSpPr>
        <p:spPr>
          <a:xfrm>
            <a:off x="1508760" y="566928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Total, Menunggu, Disetujui, Ditolak, Selesai</a:t>
            </a:r>
            <a:endParaRPr lang="en-US" sz="810" dirty="0"/>
          </a:p>
        </p:txBody>
      </p:sp>
      <p:sp>
        <p:nvSpPr>
          <p:cNvPr id="20" name="Shape 16"/>
          <p:cNvSpPr/>
          <p:nvPr/>
        </p:nvSpPr>
        <p:spPr>
          <a:xfrm>
            <a:off x="4297680" y="5669280"/>
            <a:ext cx="3547872" cy="512064"/>
          </a:xfrm>
          <a:prstGeom prst="roundRect">
            <a:avLst>
              <a:gd name="adj" fmla="val 10714"/>
            </a:avLst>
          </a:prstGeom>
          <a:solidFill>
            <a:srgbClr val="F5F8FD"/>
          </a:solidFill>
          <a:ln w="8890">
            <a:solidFill>
              <a:srgbClr val="DCE5F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425696" y="566928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Katalog</a:t>
            </a:r>
            <a:endParaRPr lang="en-US" sz="940" dirty="0"/>
          </a:p>
        </p:txBody>
      </p:sp>
      <p:sp>
        <p:nvSpPr>
          <p:cNvPr id="22" name="Text 18"/>
          <p:cNvSpPr/>
          <p:nvPr/>
        </p:nvSpPr>
        <p:spPr>
          <a:xfrm>
            <a:off x="5257800" y="566928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Cari barang, lihat satuan dan stok</a:t>
            </a:r>
            <a:endParaRPr lang="en-US" sz="810" dirty="0"/>
          </a:p>
        </p:txBody>
      </p:sp>
      <p:sp>
        <p:nvSpPr>
          <p:cNvPr id="23" name="Shape 19"/>
          <p:cNvSpPr/>
          <p:nvPr/>
        </p:nvSpPr>
        <p:spPr>
          <a:xfrm>
            <a:off x="8046720" y="5669280"/>
            <a:ext cx="3547872" cy="512064"/>
          </a:xfrm>
          <a:prstGeom prst="roundRect">
            <a:avLst>
              <a:gd name="adj" fmla="val 10714"/>
            </a:avLst>
          </a:prstGeom>
          <a:solidFill>
            <a:srgbClr val="F5F8FD"/>
          </a:solidFill>
          <a:ln w="8890">
            <a:solidFill>
              <a:srgbClr val="DCE5F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174736" y="566928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Jalan pintas</a:t>
            </a:r>
            <a:endParaRPr lang="en-US" sz="940" dirty="0"/>
          </a:p>
        </p:txBody>
      </p:sp>
      <p:sp>
        <p:nvSpPr>
          <p:cNvPr id="25" name="Text 21"/>
          <p:cNvSpPr/>
          <p:nvPr/>
        </p:nvSpPr>
        <p:spPr>
          <a:xfrm>
            <a:off x="9006840" y="566928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Buat Pengajuan, Riwayat, dan Pesan</a:t>
            </a:r>
            <a:endParaRPr lang="en-US" sz="810" dirty="0"/>
          </a:p>
        </p:txBody>
      </p:sp>
      <p:sp>
        <p:nvSpPr>
          <p:cNvPr id="26" name="Shape 22"/>
          <p:cNvSpPr/>
          <p:nvPr/>
        </p:nvSpPr>
        <p:spPr>
          <a:xfrm>
            <a:off x="1363599" y="2584323"/>
            <a:ext cx="274320" cy="274320"/>
          </a:xfrm>
          <a:prstGeom prst="ellipse">
            <a:avLst/>
          </a:prstGeom>
          <a:solidFill>
            <a:srgbClr val="1D6FE8"/>
          </a:solidFill>
          <a:ln w="1778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1363599" y="258432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9435694" y="2159270"/>
            <a:ext cx="274320" cy="274320"/>
          </a:xfrm>
          <a:prstGeom prst="ellipse">
            <a:avLst/>
          </a:prstGeom>
          <a:solidFill>
            <a:srgbClr val="1D6FE8"/>
          </a:solidFill>
          <a:ln w="1778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9435694" y="215927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93192"/>
            <a:ext cx="68580" cy="182880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566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 PLBN WINI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5778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Mengajukan barang dalam empat langkah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Pilih barang dari katalog, tentukan jumlah, lalu kirim. Beberapa barang dapat diajukan sekaligus.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4415" cy="12802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492240"/>
            <a:ext cx="11094415" cy="9144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3796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 PLBN Wini  |  Panduan Penggunaan Sistem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185855" y="6537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21792" y="1595628"/>
            <a:ext cx="5294376" cy="3346704"/>
          </a:xfrm>
          <a:prstGeom prst="roundRect">
            <a:avLst>
              <a:gd name="adj" fmla="val 820"/>
            </a:avLst>
          </a:prstGeom>
          <a:solidFill>
            <a:srgbClr val="FFFFFF"/>
          </a:solidFill>
          <a:ln w="11430">
            <a:solidFill>
              <a:srgbClr val="D5DF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6000"/>
              </a:srgbClr>
            </a:outerShdw>
          </a:effectLst>
        </p:spPr>
      </p:sp>
      <p:pic>
        <p:nvPicPr>
          <p:cNvPr id="11" name="Image 0" descr="Tangkapan layar aplikasi: 18_user_buat_pengaju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1645920"/>
            <a:ext cx="5193792" cy="32461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272784" y="1595628"/>
            <a:ext cx="5294376" cy="3346704"/>
          </a:xfrm>
          <a:prstGeom prst="roundRect">
            <a:avLst>
              <a:gd name="adj" fmla="val 820"/>
            </a:avLst>
          </a:prstGeom>
          <a:solidFill>
            <a:srgbClr val="FFFFFF"/>
          </a:solidFill>
          <a:ln w="11430">
            <a:solidFill>
              <a:srgbClr val="D5DF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6000"/>
              </a:srgbClr>
            </a:outerShdw>
          </a:effectLst>
        </p:spPr>
      </p:sp>
      <p:pic>
        <p:nvPicPr>
          <p:cNvPr id="13" name="Image 1" descr="Tangkapan layar aplikasi: 19_user_form_pengajua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1645920"/>
            <a:ext cx="5193792" cy="32461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" y="4965192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Pilih barang dari katalog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199632" y="4965192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Lengkapi formulir pengajuan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48640" y="5285232"/>
            <a:ext cx="2706624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" y="5394960"/>
            <a:ext cx="274320" cy="274320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5394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987552" y="5330952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Buka Buat Pengajuan Baru</a:t>
            </a:r>
            <a:endParaRPr lang="en-US" sz="830" dirty="0"/>
          </a:p>
        </p:txBody>
      </p:sp>
      <p:sp>
        <p:nvSpPr>
          <p:cNvPr id="20" name="Shape 16"/>
          <p:cNvSpPr/>
          <p:nvPr/>
        </p:nvSpPr>
        <p:spPr>
          <a:xfrm>
            <a:off x="3346704" y="5285232"/>
            <a:ext cx="2706624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438144" y="5394960"/>
            <a:ext cx="274320" cy="274320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438144" y="5394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3785616" y="5330952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Pilih barang dan isi jumlah minimal 1</a:t>
            </a:r>
            <a:endParaRPr lang="en-US" sz="830" dirty="0"/>
          </a:p>
        </p:txBody>
      </p:sp>
      <p:sp>
        <p:nvSpPr>
          <p:cNvPr id="24" name="Shape 20"/>
          <p:cNvSpPr/>
          <p:nvPr/>
        </p:nvSpPr>
        <p:spPr>
          <a:xfrm>
            <a:off x="6144768" y="5285232"/>
            <a:ext cx="2706624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236208" y="5394960"/>
            <a:ext cx="274320" cy="274320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236208" y="5394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583680" y="5330952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Klik Tambah untuk barang lain</a:t>
            </a:r>
            <a:endParaRPr lang="en-US" sz="830" dirty="0"/>
          </a:p>
        </p:txBody>
      </p:sp>
      <p:sp>
        <p:nvSpPr>
          <p:cNvPr id="28" name="Shape 24"/>
          <p:cNvSpPr/>
          <p:nvPr/>
        </p:nvSpPr>
        <p:spPr>
          <a:xfrm>
            <a:off x="8942832" y="5285232"/>
            <a:ext cx="2706624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9034272" y="5394960"/>
            <a:ext cx="274320" cy="274320"/>
          </a:xfrm>
          <a:prstGeom prst="ellipse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9034272" y="5394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9381744" y="5330952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Periksa data, lalu klik Ajukan</a:t>
            </a:r>
            <a:endParaRPr lang="en-US" sz="830" dirty="0"/>
          </a:p>
        </p:txBody>
      </p:sp>
      <p:sp>
        <p:nvSpPr>
          <p:cNvPr id="32" name="Shape 28"/>
          <p:cNvSpPr/>
          <p:nvPr/>
        </p:nvSpPr>
        <p:spPr>
          <a:xfrm>
            <a:off x="548640" y="6181344"/>
            <a:ext cx="11091672" cy="292608"/>
          </a:xfrm>
          <a:prstGeom prst="roundRect">
            <a:avLst>
              <a:gd name="adj" fmla="val 125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58368" y="618134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Nama lengkap, divisi, dan status kepegawaian terisi otomatis dari akun. Catatan opsional maksimal 5.000 karakter.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2352751" y="2482596"/>
            <a:ext cx="274320" cy="274320"/>
          </a:xfrm>
          <a:prstGeom prst="ellipse">
            <a:avLst/>
          </a:prstGeom>
          <a:solidFill>
            <a:srgbClr val="1D6FE8"/>
          </a:solidFill>
          <a:ln w="1778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35" name="Text 31"/>
          <p:cNvSpPr/>
          <p:nvPr/>
        </p:nvSpPr>
        <p:spPr>
          <a:xfrm>
            <a:off x="2352751" y="24825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8782812" y="3131820"/>
            <a:ext cx="274320" cy="274320"/>
          </a:xfrm>
          <a:prstGeom prst="ellipse">
            <a:avLst/>
          </a:prstGeom>
          <a:solidFill>
            <a:srgbClr val="1D6FE8"/>
          </a:solidFill>
          <a:ln w="1778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37" name="Text 33"/>
          <p:cNvSpPr/>
          <p:nvPr/>
        </p:nvSpPr>
        <p:spPr>
          <a:xfrm>
            <a:off x="8782812" y="31318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93192"/>
            <a:ext cx="68580" cy="182880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566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 PLBN WINI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5778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Riwayat dan bukti penerimaan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Pantau progres, lalu unggah foto sebagai bukti bahwa barang benar-benar diterima.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4415" cy="12802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492240"/>
            <a:ext cx="11094415" cy="9144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3796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 PLBN Wini  |  Panduan Penggunaan Sistem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185855" y="6537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98348" y="1625060"/>
            <a:ext cx="5312664" cy="4302824"/>
          </a:xfrm>
          <a:prstGeom prst="roundRect">
            <a:avLst>
              <a:gd name="adj" fmla="val 638"/>
            </a:avLst>
          </a:prstGeom>
          <a:solidFill>
            <a:srgbClr val="FFFFFF"/>
          </a:solidFill>
          <a:ln w="11430">
            <a:solidFill>
              <a:srgbClr val="D5DF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6000"/>
              </a:srgbClr>
            </a:outerShdw>
          </a:effectLst>
        </p:spPr>
      </p:sp>
      <p:pic>
        <p:nvPicPr>
          <p:cNvPr id="11" name="Image 0" descr="Tangkapan layar aplikasi: 21_user_detail_riwaya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75352"/>
            <a:ext cx="5212080" cy="42022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40857" y="1613916"/>
            <a:ext cx="5747918" cy="3630168"/>
          </a:xfrm>
          <a:prstGeom prst="roundRect">
            <a:avLst>
              <a:gd name="adj" fmla="val 756"/>
            </a:avLst>
          </a:prstGeom>
          <a:solidFill>
            <a:srgbClr val="FFFFFF"/>
          </a:solidFill>
          <a:ln w="11430">
            <a:solidFill>
              <a:srgbClr val="D5DF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6000"/>
              </a:srgbClr>
            </a:outerShdw>
          </a:effectLst>
        </p:spPr>
      </p:sp>
      <p:pic>
        <p:nvPicPr>
          <p:cNvPr id="13" name="Image 1" descr="Tangkapan layar aplikasi: 20b_user_riwayat_selesa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149" y="1664208"/>
            <a:ext cx="5647334" cy="35295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" y="594360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 pengajuan dan bukti</a:t>
            </a:r>
            <a:endParaRPr lang="en-US" sz="880" dirty="0"/>
          </a:p>
        </p:txBody>
      </p:sp>
      <p:sp>
        <p:nvSpPr>
          <p:cNvPr id="15" name="Text 11"/>
          <p:cNvSpPr/>
          <p:nvPr/>
        </p:nvSpPr>
        <p:spPr>
          <a:xfrm>
            <a:off x="5989320" y="5266944"/>
            <a:ext cx="5650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Riwayat: status dan tombol Detail</a:t>
            </a:r>
            <a:endParaRPr lang="en-US" sz="880" dirty="0"/>
          </a:p>
        </p:txBody>
      </p:sp>
      <p:sp>
        <p:nvSpPr>
          <p:cNvPr id="16" name="Shape 12"/>
          <p:cNvSpPr/>
          <p:nvPr/>
        </p:nvSpPr>
        <p:spPr>
          <a:xfrm>
            <a:off x="5989320" y="5532120"/>
            <a:ext cx="5650992" cy="713232"/>
          </a:xfrm>
          <a:prstGeom prst="roundRect">
            <a:avLst>
              <a:gd name="adj" fmla="val 7692"/>
            </a:avLst>
          </a:prstGeom>
          <a:solidFill>
            <a:srgbClr val="F5F8FD"/>
          </a:solidFill>
          <a:ln w="8890">
            <a:solidFill>
              <a:srgbClr val="DCE5F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144768" y="557784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Alur bukti</a:t>
            </a:r>
            <a:endParaRPr lang="en-US" sz="920" dirty="0"/>
          </a:p>
        </p:txBody>
      </p:sp>
      <p:sp>
        <p:nvSpPr>
          <p:cNvPr id="18" name="Text 14"/>
          <p:cNvSpPr/>
          <p:nvPr/>
        </p:nvSpPr>
        <p:spPr>
          <a:xfrm>
            <a:off x="6144768" y="577900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8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Unggah (JPG/PNG/WEBP, maks. 5 MB)  →  Menunggu verifikasi  →  Terverifikasi atau Perlu perbaikan.</a:t>
            </a:r>
            <a:endParaRPr lang="en-US" sz="820" dirty="0"/>
          </a:p>
        </p:txBody>
      </p:sp>
      <p:sp>
        <p:nvSpPr>
          <p:cNvPr id="19" name="Shape 15"/>
          <p:cNvSpPr/>
          <p:nvPr/>
        </p:nvSpPr>
        <p:spPr>
          <a:xfrm>
            <a:off x="3121762" y="3093021"/>
            <a:ext cx="274320" cy="274320"/>
          </a:xfrm>
          <a:prstGeom prst="ellipse">
            <a:avLst/>
          </a:prstGeom>
          <a:solidFill>
            <a:srgbClr val="1D6FE8"/>
          </a:solidFill>
          <a:ln w="1778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3121762" y="309302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121762" y="4563805"/>
            <a:ext cx="274320" cy="274320"/>
          </a:xfrm>
          <a:prstGeom prst="ellipse">
            <a:avLst/>
          </a:prstGeom>
          <a:solidFill>
            <a:srgbClr val="1D6FE8"/>
          </a:solidFill>
          <a:ln w="1778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3121762" y="456380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10880116" y="2162373"/>
            <a:ext cx="274320" cy="274320"/>
          </a:xfrm>
          <a:prstGeom prst="ellipse">
            <a:avLst/>
          </a:prstGeom>
          <a:solidFill>
            <a:srgbClr val="1D6FE8"/>
          </a:solidFill>
          <a:ln w="1778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10880116" y="216237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93192"/>
            <a:ext cx="68580" cy="182880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566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 PLBN WINI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5778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Pesan dari Admin: satu arah, tetap tercatat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Pesan distribusi memberi konteks kepada Pengguna, tetapi tidak mengubah status pengajuan.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4415" cy="12802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492240"/>
            <a:ext cx="11094415" cy="9144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3796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 PLBN Wini  |  Panduan Penggunaan Sistem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185855" y="6537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98348" y="1614488"/>
            <a:ext cx="5541264" cy="3501009"/>
          </a:xfrm>
          <a:prstGeom prst="roundRect">
            <a:avLst>
              <a:gd name="adj" fmla="val 784"/>
            </a:avLst>
          </a:prstGeom>
          <a:solidFill>
            <a:srgbClr val="FFFFFF"/>
          </a:solidFill>
          <a:ln w="11430">
            <a:solidFill>
              <a:srgbClr val="D5DF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6000"/>
              </a:srgbClr>
            </a:outerShdw>
          </a:effectLst>
        </p:spPr>
      </p:sp>
      <p:pic>
        <p:nvPicPr>
          <p:cNvPr id="11" name="Image 0" descr="Tangkapan layar aplikasi: 22_user_pes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64780"/>
            <a:ext cx="5440680" cy="340042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149340" y="1614488"/>
            <a:ext cx="5541264" cy="3501009"/>
          </a:xfrm>
          <a:prstGeom prst="roundRect">
            <a:avLst>
              <a:gd name="adj" fmla="val 784"/>
            </a:avLst>
          </a:prstGeom>
          <a:solidFill>
            <a:srgbClr val="FFFFFF"/>
          </a:solidFill>
          <a:ln w="11430">
            <a:solidFill>
              <a:srgbClr val="D5DF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6000"/>
              </a:srgbClr>
            </a:outerShdw>
          </a:effectLst>
        </p:spPr>
      </p:sp>
      <p:pic>
        <p:nvPicPr>
          <p:cNvPr id="13" name="Image 1" descr="Tangkapan layar aplikasi: 23_user_detail_pesa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664780"/>
            <a:ext cx="5440680" cy="34004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" y="5157216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Daftar pesan dan jumlah belum dibaca</a:t>
            </a:r>
            <a:endParaRPr lang="en-US" sz="880" dirty="0"/>
          </a:p>
        </p:txBody>
      </p:sp>
      <p:sp>
        <p:nvSpPr>
          <p:cNvPr id="15" name="Text 11"/>
          <p:cNvSpPr/>
          <p:nvPr/>
        </p:nvSpPr>
        <p:spPr>
          <a:xfrm>
            <a:off x="6199632" y="5157216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 pesan dan tautan ke pengajuan</a:t>
            </a:r>
            <a:endParaRPr lang="en-US" sz="880" dirty="0"/>
          </a:p>
        </p:txBody>
      </p:sp>
      <p:sp>
        <p:nvSpPr>
          <p:cNvPr id="16" name="Shape 12"/>
          <p:cNvSpPr/>
          <p:nvPr/>
        </p:nvSpPr>
        <p:spPr>
          <a:xfrm>
            <a:off x="548640" y="5468112"/>
            <a:ext cx="3547872" cy="841248"/>
          </a:xfrm>
          <a:prstGeom prst="roundRect">
            <a:avLst>
              <a:gd name="adj" fmla="val 6522"/>
            </a:avLst>
          </a:prstGeom>
          <a:solidFill>
            <a:srgbClr val="F5F8FD"/>
          </a:solidFill>
          <a:ln w="8890">
            <a:solidFill>
              <a:srgbClr val="DCE5F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76656" y="55504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Dibaca otomatis</a:t>
            </a:r>
            <a:endParaRPr lang="en-US" sz="910" dirty="0"/>
          </a:p>
        </p:txBody>
      </p:sp>
      <p:sp>
        <p:nvSpPr>
          <p:cNvPr id="18" name="Text 14"/>
          <p:cNvSpPr/>
          <p:nvPr/>
        </p:nvSpPr>
        <p:spPr>
          <a:xfrm>
            <a:off x="676656" y="5760720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Membuka pesan menandainya Sudah dibaca dan mengurangi hitungan Belum Dibaca.</a:t>
            </a:r>
            <a:endParaRPr lang="en-US" sz="780" dirty="0"/>
          </a:p>
        </p:txBody>
      </p:sp>
      <p:sp>
        <p:nvSpPr>
          <p:cNvPr id="19" name="Shape 15"/>
          <p:cNvSpPr/>
          <p:nvPr/>
        </p:nvSpPr>
        <p:spPr>
          <a:xfrm>
            <a:off x="4297680" y="5468112"/>
            <a:ext cx="3547872" cy="841248"/>
          </a:xfrm>
          <a:prstGeom prst="roundRect">
            <a:avLst>
              <a:gd name="adj" fmla="val 6522"/>
            </a:avLst>
          </a:prstGeom>
          <a:solidFill>
            <a:srgbClr val="F5F8FD"/>
          </a:solidFill>
          <a:ln w="8890">
            <a:solidFill>
              <a:srgbClr val="DCE5F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425696" y="55504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Tanpa tombol balas</a:t>
            </a:r>
            <a:endParaRPr lang="en-US" sz="910" dirty="0"/>
          </a:p>
        </p:txBody>
      </p:sp>
      <p:sp>
        <p:nvSpPr>
          <p:cNvPr id="21" name="Text 17"/>
          <p:cNvSpPr/>
          <p:nvPr/>
        </p:nvSpPr>
        <p:spPr>
          <a:xfrm>
            <a:off x="4425696" y="5760720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Tidak ada percakapan dua arah; sampaikan tanggapan melalui saluran resmi kantor.</a:t>
            </a:r>
            <a:endParaRPr lang="en-US" sz="780" dirty="0"/>
          </a:p>
        </p:txBody>
      </p:sp>
      <p:sp>
        <p:nvSpPr>
          <p:cNvPr id="22" name="Shape 18"/>
          <p:cNvSpPr/>
          <p:nvPr/>
        </p:nvSpPr>
        <p:spPr>
          <a:xfrm>
            <a:off x="8046720" y="5468112"/>
            <a:ext cx="3547872" cy="841248"/>
          </a:xfrm>
          <a:prstGeom prst="roundRect">
            <a:avLst>
              <a:gd name="adj" fmla="val 6522"/>
            </a:avLst>
          </a:prstGeom>
          <a:solidFill>
            <a:srgbClr val="F5F8FD"/>
          </a:solidFill>
          <a:ln w="8890">
            <a:solidFill>
              <a:srgbClr val="DCE5F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174736" y="55504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tidak berubah</a:t>
            </a:r>
            <a:endParaRPr lang="en-US" sz="910" dirty="0"/>
          </a:p>
        </p:txBody>
      </p:sp>
      <p:sp>
        <p:nvSpPr>
          <p:cNvPr id="24" name="Text 20"/>
          <p:cNvSpPr/>
          <p:nvPr/>
        </p:nvSpPr>
        <p:spPr>
          <a:xfrm>
            <a:off x="8174736" y="5760720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Pesan hanya pemberitahuan. Status berubah lewat persetujuan, distribusi, dan verifikasi.</a:t>
            </a:r>
            <a:endParaRPr lang="en-US" sz="780" dirty="0"/>
          </a:p>
        </p:txBody>
      </p:sp>
      <p:sp>
        <p:nvSpPr>
          <p:cNvPr id="25" name="Shape 21"/>
          <p:cNvSpPr/>
          <p:nvPr/>
        </p:nvSpPr>
        <p:spPr>
          <a:xfrm>
            <a:off x="2859786" y="1969675"/>
            <a:ext cx="274320" cy="274320"/>
          </a:xfrm>
          <a:prstGeom prst="ellipse">
            <a:avLst/>
          </a:prstGeom>
          <a:solidFill>
            <a:srgbClr val="1D6FE8"/>
          </a:solidFill>
          <a:ln w="1778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2859786" y="196967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10850270" y="2785777"/>
            <a:ext cx="274320" cy="274320"/>
          </a:xfrm>
          <a:prstGeom prst="ellipse">
            <a:avLst/>
          </a:prstGeom>
          <a:solidFill>
            <a:srgbClr val="1D6FE8"/>
          </a:solidFill>
          <a:ln w="1778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25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10850270" y="278577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93192"/>
            <a:ext cx="68580" cy="182880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566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 PLBN WINI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55778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Kebiasaan aman dan batasan sistem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Gunakan sistem sesuai alurnya dan ketahui fitur yang belum tersedia.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4415" cy="12802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492240"/>
            <a:ext cx="11094415" cy="9144"/>
          </a:xfrm>
          <a:prstGeom prst="rect">
            <a:avLst/>
          </a:prstGeom>
          <a:solidFill>
            <a:srgbClr val="DCE5F1"/>
          </a:solidFill>
          <a:ln w="12700">
            <a:solidFill>
              <a:srgbClr val="DCE5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3796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SIBERSIH PLBN Wini  |  Panduan Penggunaan Sistem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185855" y="6537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1682496"/>
            <a:ext cx="5440680" cy="3401568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856232"/>
            <a:ext cx="1188720" cy="274320"/>
          </a:xfrm>
          <a:prstGeom prst="roundRect">
            <a:avLst>
              <a:gd name="adj" fmla="val 166667"/>
            </a:avLst>
          </a:prstGeom>
          <a:solidFill>
            <a:srgbClr val="E8F7EE"/>
          </a:solidFill>
          <a:ln w="12700">
            <a:solidFill>
              <a:srgbClr val="E8F7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856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spc="100" kern="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LAKUKAN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832104" y="2368296"/>
            <a:ext cx="77724" cy="7772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28600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Logout setelah selesai, terutama di komputer bersama.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32104" y="2889504"/>
            <a:ext cx="77724" cy="7772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80720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Periksa nama, divisi, barang, dan jumlah sebelum mengirim.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32104" y="3410712"/>
            <a:ext cx="77724" cy="7772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32841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Verifikasi stok fisik sebelum menyetujui pengajuan.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32104" y="3931920"/>
            <a:ext cx="77724" cy="7772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849624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Simpan bukti penerimaan dan arsip laporan sebagai PDF.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32104" y="4453128"/>
            <a:ext cx="77724" cy="7772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370832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Jaga kerahasiaan password dan NIK.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99632" y="1682496"/>
            <a:ext cx="5440680" cy="3401568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0160">
            <a:solidFill>
              <a:srgbClr val="DCE5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55664" y="1856232"/>
            <a:ext cx="1188720" cy="274320"/>
          </a:xfrm>
          <a:prstGeom prst="roundRect">
            <a:avLst>
              <a:gd name="adj" fmla="val 166667"/>
            </a:avLst>
          </a:prstGeom>
          <a:solidFill>
            <a:srgbClr val="FEECEC"/>
          </a:solidFill>
          <a:ln w="12700">
            <a:solidFill>
              <a:srgbClr val="FEEC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1856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spc="100" kern="0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HINDARI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6483096" y="2368296"/>
            <a:ext cx="77724" cy="7772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56832" y="228600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Berbagi akun atau password dengan rekan kerja.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83096" y="2889504"/>
            <a:ext cx="77724" cy="7772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56832" y="280720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Mengubah data langsung di database atau file aplikasi.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83096" y="3410712"/>
            <a:ext cx="77724" cy="7772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56832" y="332841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Mengirim pengajuan berulang untuk barang yang sama.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83096" y="3931920"/>
            <a:ext cx="77724" cy="7772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56832" y="3849624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Menghapus barang/anggota yang memiliki riwayat.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83096" y="4453128"/>
            <a:ext cx="77724" cy="7772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6832" y="4370832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Menganggap pesan sebagai bukti persetujuan.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5285232"/>
            <a:ext cx="11091672" cy="877824"/>
          </a:xfrm>
          <a:prstGeom prst="roundRect">
            <a:avLst>
              <a:gd name="adj" fmla="val 6250"/>
            </a:avLst>
          </a:prstGeom>
          <a:solidFill>
            <a:srgbClr val="FEF3C7"/>
          </a:solidFill>
          <a:ln w="8890">
            <a:solidFill>
              <a:srgbClr val="F2D2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3766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Belum tersedia atau terbatas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" y="5605272"/>
            <a:ext cx="10680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Peran vendor (login ditolak)  •  ekspor Excel/PDF langsung  •  notifikasi otomatis  •  ubah password di dalam aplikasi  •  riwayat mutasi stok  •  balasan pesan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645920"/>
            <a:ext cx="5303520" cy="5303520"/>
          </a:xfrm>
          <a:prstGeom prst="ellipse">
            <a:avLst/>
          </a:prstGeom>
          <a:solidFill>
            <a:srgbClr val="123F74">
              <a:alpha val="40000"/>
            </a:srgbClr>
          </a:solidFill>
          <a:ln w="12700">
            <a:solidFill>
              <a:srgbClr val="123F7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65836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xampp\htdocs\sistem_informasi_plbn_wini\dokumentasi\assets\logo-bn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704088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178308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spc="280" kern="0" dirty="0">
                <a:solidFill>
                  <a:srgbClr val="7FB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TERIMA KASIH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49808" y="2121408"/>
            <a:ext cx="7680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Gunakan SIBERSIH</a:t>
            </a:r>
            <a:endParaRPr lang="en-US" sz="3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sesuai alurnya.</a:t>
            </a:r>
            <a:endParaRPr lang="en-US" sz="3500" dirty="0"/>
          </a:p>
        </p:txBody>
      </p:sp>
      <p:sp>
        <p:nvSpPr>
          <p:cNvPr id="8" name="Shape 5"/>
          <p:cNvSpPr/>
          <p:nvPr/>
        </p:nvSpPr>
        <p:spPr>
          <a:xfrm>
            <a:off x="768096" y="3639312"/>
            <a:ext cx="1234440" cy="45720"/>
          </a:xfrm>
          <a:prstGeom prst="rect">
            <a:avLst/>
          </a:prstGeom>
          <a:solidFill>
            <a:srgbClr val="1D6FE8"/>
          </a:solidFill>
          <a:ln w="12700">
            <a:solidFill>
              <a:srgbClr val="1D6F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" y="38404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C9DA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yang benar, pemeriksaan sebelum menekan tombol, dan pemantauan status secara berkala adalah kunci penggunaan yang aman.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086600" y="1965960"/>
            <a:ext cx="4160520" cy="3246120"/>
          </a:xfrm>
          <a:prstGeom prst="roundRect">
            <a:avLst>
              <a:gd name="adj" fmla="val 2254"/>
            </a:avLst>
          </a:prstGeom>
          <a:solidFill>
            <a:srgbClr val="12335C"/>
          </a:solidFill>
          <a:ln w="10160">
            <a:solidFill>
              <a:srgbClr val="2A4C7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0" y="21945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7FB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BANTUAN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315200" y="245059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Perlengkapan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PLBN Wini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7315200" y="3154680"/>
            <a:ext cx="3611880" cy="10058"/>
          </a:xfrm>
          <a:prstGeom prst="rect">
            <a:avLst/>
          </a:prstGeom>
          <a:solidFill>
            <a:srgbClr val="2A4C78"/>
          </a:solidFill>
          <a:ln w="12700">
            <a:solidFill>
              <a:srgbClr val="2A4C7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0" y="331012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6E6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plbnwini2017@gmail.com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315200" y="376732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FC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lengkap tersedia dalam berkas PDF: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FC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Panduan_Penggunaan_SIBERSIH_PLBN_Wini.pdf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315200" y="470916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8FA9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Edisi 2026  •  Dokumen internal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68096" y="6080760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FA9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Badan Nasional Pengelola Perbatasan  •  Pos Lintas Batas Negara Wini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Badan Nasional Pengelola Perbatasan - PLBN Wini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Panduan Penggunaan SIBERSIH PLBN Wini</dc:title>
  <dc:subject>Panduan Penggunaan Sistem Informasi Pengajuan dan Distribusi Barang Kebersihan</dc:subject>
  <dc:creator>SIBERSIH PLBN Wini</dc:creator>
  <cp:lastModifiedBy>SIBERSIH PLBN Wini</cp:lastModifiedBy>
  <cp:revision>1</cp:revision>
  <dcterms:created xsi:type="dcterms:W3CDTF">2026-10-22T16:24:51Z</dcterms:created>
  <dcterms:modified xsi:type="dcterms:W3CDTF">2026-10-22T16:24:51Z</dcterms:modified>
</cp:coreProperties>
</file>